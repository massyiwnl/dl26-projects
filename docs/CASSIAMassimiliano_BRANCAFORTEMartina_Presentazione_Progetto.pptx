
<file path=[Content_Types].xml><?xml version="1.0" encoding="utf-8"?>
<Types xmlns="http://schemas.openxmlformats.org/package/2006/content-types">
  <Default ContentType="application/vnd.openxmlformats-officedocument.oleObject" Extension="bin"/>
  <Default ContentType="application/x-fontdata" Extension="fntdata"/>
  <Default ContentType="image/jpeg" Extension="jpeg"/>
  <Default ContentType="image/png" Extension="png"/>
  <Default ContentType="application/vnd.openxmlformats-package.relationships+xml" Extension="rels"/>
  <Default ContentType="image/svg+xml" Extension="svg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slide+xml" PartName="/ppt/slides/slide8.xml"/>
  <Override ContentType="application/vnd.openxmlformats-officedocument.presentationml.slide+xml" PartName="/ppt/slides/slide9.xml"/>
  <Override ContentType="application/vnd.openxmlformats-officedocument.presentationml.slide+xml" PartName="/ppt/slides/slide10.xml"/>
  <Override ContentType="application/vnd.openxmlformats-officedocument.presentationml.slide+xml" PartName="/ppt/slides/slide11.xml"/>
  <Override ContentType="application/vnd.openxmlformats-officedocument.presentationml.slide+xml" PartName="/ppt/slides/slide12.xml"/>
  <Override ContentType="application/vnd.openxmlformats-officedocument.presentationml.slide+xml" PartName="/ppt/slides/slide13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</p:sldIdLst>
  <p:sldSz cx="18288000" cy="10287000"/>
  <p:notesSz cx="6858000" cy="9144000"/>
  <p:embeddedFontLst>
    <p:embeddedFont>
      <p:font typeface="Montserrat" charset="1" panose="00000500000000000000"/>
      <p:regular r:id="rId19"/>
    </p:embeddedFont>
    <p:embeddedFont>
      <p:font typeface="Montserrat Semi-Bold" charset="1" panose="00000700000000000000"/>
      <p:regular r:id="rId20"/>
    </p:embeddedFont>
    <p:embeddedFont>
      <p:font typeface="Horizon" charset="1" panose="02000500000000000000"/>
      <p:regular r:id="rId21"/>
    </p:embeddedFont>
    <p:embeddedFont>
      <p:font typeface="Open Sans" charset="1" panose="020B0606030504020204"/>
      <p:regular r:id="rId22"/>
    </p:embeddedFont>
    <p:embeddedFont>
      <p:font typeface="Montserrat Bold" charset="1" panose="00000800000000000000"/>
      <p:regular r:id="rId23"/>
    </p:embeddedFont>
    <p:embeddedFont>
      <p:font typeface="Open Sans Bold" charset="1" panose="020B0806030504020204"/>
      <p:regular r:id="rId24"/>
    </p:embeddedFont>
    <p:embeddedFont>
      <p:font typeface="Montserrat Italics" charset="1" panose="00000500000000000000"/>
      <p:regular r:id="rId25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slides/slide6.xml" Type="http://schemas.openxmlformats.org/officeDocument/2006/relationships/slide"/><Relationship Id="rId12" Target="slides/slide7.xml" Type="http://schemas.openxmlformats.org/officeDocument/2006/relationships/slide"/><Relationship Id="rId13" Target="slides/slide8.xml" Type="http://schemas.openxmlformats.org/officeDocument/2006/relationships/slide"/><Relationship Id="rId14" Target="slides/slide9.xml" Type="http://schemas.openxmlformats.org/officeDocument/2006/relationships/slide"/><Relationship Id="rId15" Target="slides/slide10.xml" Type="http://schemas.openxmlformats.org/officeDocument/2006/relationships/slide"/><Relationship Id="rId16" Target="slides/slide11.xml" Type="http://schemas.openxmlformats.org/officeDocument/2006/relationships/slide"/><Relationship Id="rId17" Target="slides/slide12.xml" Type="http://schemas.openxmlformats.org/officeDocument/2006/relationships/slide"/><Relationship Id="rId18" Target="slides/slide13.xml" Type="http://schemas.openxmlformats.org/officeDocument/2006/relationships/slide"/><Relationship Id="rId19" Target="fonts/font19.fntdata" Type="http://schemas.openxmlformats.org/officeDocument/2006/relationships/font"/><Relationship Id="rId2" Target="presProps.xml" Type="http://schemas.openxmlformats.org/officeDocument/2006/relationships/presProps"/><Relationship Id="rId20" Target="fonts/font20.fntdata" Type="http://schemas.openxmlformats.org/officeDocument/2006/relationships/font"/><Relationship Id="rId21" Target="fonts/font21.fntdata" Type="http://schemas.openxmlformats.org/officeDocument/2006/relationships/font"/><Relationship Id="rId22" Target="fonts/font22.fntdata" Type="http://schemas.openxmlformats.org/officeDocument/2006/relationships/font"/><Relationship Id="rId23" Target="fonts/font23.fntdata" Type="http://schemas.openxmlformats.org/officeDocument/2006/relationships/font"/><Relationship Id="rId24" Target="fonts/font24.fntdata" Type="http://schemas.openxmlformats.org/officeDocument/2006/relationships/font"/><Relationship Id="rId25" Target="fonts/font25.fntdata" Type="http://schemas.openxmlformats.org/officeDocument/2006/relationships/font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https://github.com/Massyiwnl/dl26-projects" TargetMode="External" Type="http://schemas.openxmlformats.org/officeDocument/2006/relationships/hyperlink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.png" Type="http://schemas.openxmlformats.org/officeDocument/2006/relationships/image"/><Relationship Id="rId3" Target="../media/image3.png" Type="http://schemas.openxmlformats.org/officeDocument/2006/relationships/image"/><Relationship Id="rId4" Target="../media/image4.svg" Type="http://schemas.openxmlformats.org/officeDocument/2006/relationships/image"/><Relationship Id="rId5" Target="../media/image5.png" Type="http://schemas.openxmlformats.org/officeDocument/2006/relationships/image"/><Relationship Id="rId6" Target="../media/image6.svg" Type="http://schemas.openxmlformats.org/officeDocument/2006/relationships/image"/></Relationships>
</file>

<file path=ppt/slides/_rels/slide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7.png" Type="http://schemas.openxmlformats.org/officeDocument/2006/relationships/image"/></Relationships>
</file>

<file path=ppt/slides/_rels/slide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8.png" Type="http://schemas.openxmlformats.org/officeDocument/2006/relationships/image"/></Relationships>
</file>

<file path=ppt/slides/_rels/slide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9.png" Type="http://schemas.openxmlformats.org/officeDocument/2006/relationships/image"/></Relationships>
</file>

<file path=ppt/slides/_rels/slide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0.png" Type="http://schemas.openxmlformats.org/officeDocument/2006/relationships/image"/></Relationships>
</file>

<file path=ppt/slides/_rels/slide1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1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1.png" Type="http://schemas.openxmlformats.org/officeDocument/2006/relationships/image"/><Relationship Id="rId3" Target="../media/image12.png" Type="http://schemas.openxmlformats.org/officeDocument/2006/relationships/image"/><Relationship Id="rId4" Target="../embeddings/oleObject1.bin" Type="http://schemas.openxmlformats.org/officeDocument/2006/relationships/oleObject"/></Relationships>
</file>

<file path=ppt/slides/_rels/slide1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/Relationships>
</file>

<file path=ppt/slides/_rels/slide1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7866614">
            <a:off x="11118993" y="1715052"/>
            <a:ext cx="14338015" cy="10351106"/>
          </a:xfrm>
          <a:custGeom>
            <a:avLst/>
            <a:gdLst/>
            <a:ahLst/>
            <a:cxnLst/>
            <a:rect r="r" b="b" t="t" l="l"/>
            <a:pathLst>
              <a:path h="10351106" w="14338015">
                <a:moveTo>
                  <a:pt x="0" y="0"/>
                </a:moveTo>
                <a:lnTo>
                  <a:pt x="14338014" y="0"/>
                </a:lnTo>
                <a:lnTo>
                  <a:pt x="14338014" y="10351106"/>
                </a:lnTo>
                <a:lnTo>
                  <a:pt x="0" y="10351106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3989365" y="6358924"/>
            <a:ext cx="6709958" cy="2193417"/>
            <a:chOff x="0" y="0"/>
            <a:chExt cx="8946611" cy="2924556"/>
          </a:xfrm>
        </p:grpSpPr>
        <p:sp>
          <p:nvSpPr>
            <p:cNvPr name="TextBox 4" id="4"/>
            <p:cNvSpPr txBox="true"/>
            <p:nvPr/>
          </p:nvSpPr>
          <p:spPr>
            <a:xfrm rot="0">
              <a:off x="0" y="1883706"/>
              <a:ext cx="8499922" cy="104085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r">
                <a:lnSpc>
                  <a:spcPts val="3185"/>
                </a:lnSpc>
              </a:pPr>
              <a:r>
                <a:rPr lang="en-US" sz="2699">
                  <a:solidFill>
                    <a:srgbClr val="545364"/>
                  </a:solidFill>
                  <a:latin typeface="Montserrat"/>
                  <a:ea typeface="Montserrat"/>
                  <a:cs typeface="Montserrat"/>
                  <a:sym typeface="Montserrat"/>
                </a:rPr>
                <a:t>Massimiliano Cassia (1000016487)</a:t>
              </a:r>
            </a:p>
            <a:p>
              <a:pPr algn="r">
                <a:lnSpc>
                  <a:spcPts val="3067"/>
                </a:lnSpc>
              </a:pPr>
              <a:r>
                <a:rPr lang="en-US" sz="2599">
                  <a:solidFill>
                    <a:srgbClr val="545364"/>
                  </a:solidFill>
                  <a:latin typeface="Montserrat"/>
                  <a:ea typeface="Montserrat"/>
                  <a:cs typeface="Montserrat"/>
                  <a:sym typeface="Montserrat"/>
                </a:rPr>
                <a:t>Martina Brancaforte (1000015074)</a:t>
              </a:r>
            </a:p>
          </p:txBody>
        </p:sp>
        <p:sp>
          <p:nvSpPr>
            <p:cNvPr name="TextBox 5" id="5"/>
            <p:cNvSpPr txBox="true"/>
            <p:nvPr/>
          </p:nvSpPr>
          <p:spPr>
            <a:xfrm rot="0">
              <a:off x="0" y="0"/>
              <a:ext cx="8946611" cy="1242399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4601"/>
                </a:lnSpc>
              </a:pPr>
              <a:r>
                <a:rPr lang="en-US" sz="3899" b="true">
                  <a:solidFill>
                    <a:srgbClr val="000000"/>
                  </a:solidFill>
                  <a:latin typeface="Montserrat Semi-Bold"/>
                  <a:ea typeface="Montserrat Semi-Bold"/>
                  <a:cs typeface="Montserrat Semi-Bold"/>
                  <a:sym typeface="Montserrat Semi-Bold"/>
                </a:rPr>
                <a:t>Gruppo Cass</a:t>
              </a:r>
              <a:r>
                <a:rPr lang="en-US" sz="3899" b="true">
                  <a:solidFill>
                    <a:srgbClr val="000000"/>
                  </a:solidFill>
                  <a:latin typeface="Montserrat Semi-Bold"/>
                  <a:ea typeface="Montserrat Semi-Bold"/>
                  <a:cs typeface="Montserrat Semi-Bold"/>
                  <a:sym typeface="Montserrat Semi-Bold"/>
                </a:rPr>
                <a:t>iaBranca</a:t>
              </a:r>
            </a:p>
            <a:p>
              <a:pPr algn="l">
                <a:lnSpc>
                  <a:spcPts val="2714"/>
                </a:lnSpc>
              </a:pPr>
            </a:p>
          </p:txBody>
        </p:sp>
      </p:grpSp>
      <p:grpSp>
        <p:nvGrpSpPr>
          <p:cNvPr name="Group 6" id="6"/>
          <p:cNvGrpSpPr/>
          <p:nvPr/>
        </p:nvGrpSpPr>
        <p:grpSpPr>
          <a:xfrm rot="0">
            <a:off x="813389" y="2514675"/>
            <a:ext cx="15993476" cy="4076064"/>
            <a:chOff x="0" y="0"/>
            <a:chExt cx="21324635" cy="5434752"/>
          </a:xfrm>
        </p:grpSpPr>
        <p:sp>
          <p:nvSpPr>
            <p:cNvPr name="TextBox 7" id="7"/>
            <p:cNvSpPr txBox="true"/>
            <p:nvPr/>
          </p:nvSpPr>
          <p:spPr>
            <a:xfrm rot="0">
              <a:off x="0" y="2747433"/>
              <a:ext cx="20140453" cy="2687319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5460"/>
                </a:lnSpc>
              </a:pPr>
              <a:r>
                <a:rPr lang="en-US" sz="3900" b="true">
                  <a:solidFill>
                    <a:srgbClr val="000000"/>
                  </a:solidFill>
                  <a:latin typeface="Montserrat Semi-Bold"/>
                  <a:ea typeface="Montserrat Semi-Bold"/>
                  <a:cs typeface="Montserrat Semi-Bold"/>
                  <a:sym typeface="Montserrat Semi-Bold"/>
                </a:rPr>
                <a:t>Track 7: Adattamento di Dominio Esocentrico → Egocentrico</a:t>
              </a:r>
            </a:p>
            <a:p>
              <a:pPr algn="l">
                <a:lnSpc>
                  <a:spcPts val="5460"/>
                </a:lnSpc>
              </a:pPr>
            </a:p>
          </p:txBody>
        </p:sp>
        <p:sp>
          <p:nvSpPr>
            <p:cNvPr name="TextBox 8" id="8"/>
            <p:cNvSpPr txBox="true"/>
            <p:nvPr/>
          </p:nvSpPr>
          <p:spPr>
            <a:xfrm rot="0">
              <a:off x="0" y="28575"/>
              <a:ext cx="21324635" cy="2655358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5000"/>
                </a:lnSpc>
                <a:spcBef>
                  <a:spcPct val="0"/>
                </a:spcBef>
              </a:pPr>
              <a:r>
                <a:rPr lang="en-US" sz="5000">
                  <a:solidFill>
                    <a:srgbClr val="000000"/>
                  </a:solidFill>
                  <a:latin typeface="Horizon"/>
                  <a:ea typeface="Horizon"/>
                  <a:cs typeface="Horizon"/>
                  <a:sym typeface="Horizon"/>
                </a:rPr>
                <a:t>D</a:t>
              </a:r>
              <a:r>
                <a:rPr lang="en-US" b="true" sz="5000" strike="noStrike" u="none">
                  <a:solidFill>
                    <a:srgbClr val="000000"/>
                  </a:solidFill>
                  <a:latin typeface="Horizon"/>
                  <a:ea typeface="Horizon"/>
                  <a:cs typeface="Horizon"/>
                  <a:sym typeface="Horizon"/>
                </a:rPr>
                <a:t>eep Learning: Advanced Models &amp; Methods (DL26)</a:t>
              </a:r>
            </a:p>
            <a:p>
              <a:pPr algn="l" marL="0" indent="0" lvl="0">
                <a:lnSpc>
                  <a:spcPts val="5000"/>
                </a:lnSpc>
                <a:spcBef>
                  <a:spcPct val="0"/>
                </a:spcBef>
              </a:pPr>
            </a:p>
          </p:txBody>
        </p:sp>
      </p:grpSp>
      <p:sp>
        <p:nvSpPr>
          <p:cNvPr name="TextBox 9" id="9"/>
          <p:cNvSpPr txBox="true"/>
          <p:nvPr/>
        </p:nvSpPr>
        <p:spPr>
          <a:xfrm rot="0">
            <a:off x="2553957" y="9426575"/>
            <a:ext cx="10394173" cy="8604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499"/>
              </a:lnSpc>
            </a:pPr>
            <a:r>
              <a:rPr lang="en-US" sz="2499" u="sng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  <a:hlinkClick r:id="rId3" tooltip="https://github.com/Massyiwnl/dl26-projects"/>
              </a:rPr>
              <a:t>github.com/Massyiwnl</a:t>
            </a:r>
            <a:r>
              <a:rPr lang="en-US" sz="2499" u="sng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/dl26-projects</a:t>
            </a:r>
          </a:p>
          <a:p>
            <a:pPr algn="ctr">
              <a:lnSpc>
                <a:spcPts val="3499"/>
              </a:lnSpc>
            </a:pP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-4729541">
            <a:off x="14579000" y="13207"/>
            <a:ext cx="11399374" cy="8229600"/>
          </a:xfrm>
          <a:custGeom>
            <a:avLst/>
            <a:gdLst/>
            <a:ahLst/>
            <a:cxnLst/>
            <a:rect r="r" b="b" t="t" l="l"/>
            <a:pathLst>
              <a:path h="8229600" w="11399374">
                <a:moveTo>
                  <a:pt x="0" y="0"/>
                </a:moveTo>
                <a:lnTo>
                  <a:pt x="11399374" y="0"/>
                </a:lnTo>
                <a:lnTo>
                  <a:pt x="11399374" y="8229600"/>
                </a:lnTo>
                <a:lnTo>
                  <a:pt x="0" y="82296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1088592" y="1330832"/>
            <a:ext cx="12430003" cy="16383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6000"/>
              </a:lnSpc>
              <a:spcBef>
                <a:spcPct val="0"/>
              </a:spcBef>
            </a:pPr>
            <a:r>
              <a:rPr lang="en-US" sz="6000">
                <a:solidFill>
                  <a:srgbClr val="000000"/>
                </a:solidFill>
                <a:latin typeface="Horizon"/>
                <a:ea typeface="Horizon"/>
                <a:cs typeface="Horizon"/>
                <a:sym typeface="Horizon"/>
              </a:rPr>
              <a:t>Il Div</a:t>
            </a:r>
            <a:r>
              <a:rPr lang="en-US" b="true" sz="6000" strike="noStrike" u="none">
                <a:solidFill>
                  <a:srgbClr val="000000"/>
                </a:solidFill>
                <a:latin typeface="Horizon"/>
                <a:ea typeface="Horizon"/>
                <a:cs typeface="Horizon"/>
                <a:sym typeface="Horizon"/>
              </a:rPr>
              <a:t>ario Ego-Exo</a:t>
            </a:r>
          </a:p>
          <a:p>
            <a:pPr algn="l" marL="0" indent="0" lvl="0">
              <a:lnSpc>
                <a:spcPts val="6000"/>
              </a:lnSpc>
              <a:spcBef>
                <a:spcPct val="0"/>
              </a:spcBef>
            </a:pPr>
          </a:p>
        </p:txBody>
      </p:sp>
      <p:sp>
        <p:nvSpPr>
          <p:cNvPr name="TextBox 4" id="4"/>
          <p:cNvSpPr txBox="true"/>
          <p:nvPr/>
        </p:nvSpPr>
        <p:spPr>
          <a:xfrm rot="0">
            <a:off x="693771" y="2997707"/>
            <a:ext cx="10962193" cy="168651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1"/>
              </a:lnSpc>
              <a:spcBef>
                <a:spcPct val="0"/>
              </a:spcBef>
            </a:pPr>
            <a:r>
              <a:rPr lang="en-US" sz="3046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I modelli addestrati su viste fisse (terza persona) subiscono un drastico calo di prestazioni se applicati a telecamere indossabili (smart glasses).</a:t>
            </a:r>
          </a:p>
          <a:p>
            <a:pPr algn="l">
              <a:lnSpc>
                <a:spcPts val="3351"/>
              </a:lnSpc>
              <a:spcBef>
                <a:spcPct val="0"/>
              </a:spcBef>
            </a:pPr>
          </a:p>
        </p:txBody>
      </p:sp>
      <p:sp>
        <p:nvSpPr>
          <p:cNvPr name="TextBox 5" id="5"/>
          <p:cNvSpPr txBox="true"/>
          <p:nvPr/>
        </p:nvSpPr>
        <p:spPr>
          <a:xfrm rot="0">
            <a:off x="711470" y="4487258"/>
            <a:ext cx="10944495" cy="15811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200"/>
              </a:lnSpc>
            </a:pPr>
            <a:r>
              <a:rPr lang="en-US" sz="300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Sfide Visive: Shift d</a:t>
            </a:r>
            <a:r>
              <a:rPr lang="en-US" sz="300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i prospettiva, auto-occlusione e statistiche di sfondo diverse ostacolano il riconoscimento.</a:t>
            </a:r>
          </a:p>
          <a:p>
            <a:pPr algn="ctr">
              <a:lnSpc>
                <a:spcPts val="4200"/>
              </a:lnSpc>
            </a:pPr>
          </a:p>
        </p:txBody>
      </p:sp>
      <p:sp>
        <p:nvSpPr>
          <p:cNvPr name="TextBox 6" id="6"/>
          <p:cNvSpPr txBox="true"/>
          <p:nvPr/>
        </p:nvSpPr>
        <p:spPr>
          <a:xfrm rot="0">
            <a:off x="729169" y="6153150"/>
            <a:ext cx="11237801" cy="15811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200"/>
              </a:lnSpc>
            </a:pPr>
            <a:r>
              <a:rPr lang="en-US" sz="300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Costo de</a:t>
            </a:r>
            <a:r>
              <a:rPr lang="en-US" sz="300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i Dati: Raccogliere enormi dataset egocentrici è proibitivo.</a:t>
            </a:r>
          </a:p>
          <a:p>
            <a:pPr algn="ctr">
              <a:lnSpc>
                <a:spcPts val="4200"/>
              </a:lnSpc>
            </a:pPr>
          </a:p>
        </p:txBody>
      </p:sp>
      <p:sp>
        <p:nvSpPr>
          <p:cNvPr name="TextBox 7" id="7"/>
          <p:cNvSpPr txBox="true"/>
          <p:nvPr/>
        </p:nvSpPr>
        <p:spPr>
          <a:xfrm rot="0">
            <a:off x="693771" y="7677150"/>
            <a:ext cx="11273198" cy="15811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200"/>
              </a:lnSpc>
            </a:pPr>
            <a:r>
              <a:rPr lang="en-US" sz="300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Obiettivo: Sfruttare archiv</a:t>
            </a:r>
            <a:r>
              <a:rPr lang="en-US" sz="300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i esocentrici pre-esistenti tramite Unsupervised Domain Adaptation (UDA).</a:t>
            </a:r>
          </a:p>
          <a:p>
            <a:pPr algn="ctr">
              <a:lnSpc>
                <a:spcPts val="4200"/>
              </a:lnSpc>
            </a:pPr>
          </a:p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723581" y="2836373"/>
            <a:ext cx="13997235" cy="298386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915"/>
              </a:lnSpc>
            </a:pPr>
            <a:r>
              <a:rPr lang="en-US" sz="3263">
                <a:solidFill>
                  <a:srgbClr val="545364"/>
                </a:solidFill>
                <a:latin typeface="Montserrat"/>
                <a:ea typeface="Montserrat"/>
                <a:cs typeface="Montserrat"/>
                <a:sym typeface="Montserrat"/>
              </a:rPr>
              <a:t>Charades-Ego è il benchmark standard per il transfer cross-view, fornendo registrazioni dello stesso attore da due angolazioni.</a:t>
            </a:r>
          </a:p>
          <a:p>
            <a:pPr algn="l">
              <a:lnSpc>
                <a:spcPts val="3915"/>
              </a:lnSpc>
            </a:pPr>
            <a:r>
              <a:rPr lang="en-US" sz="3263">
                <a:solidFill>
                  <a:srgbClr val="545364"/>
                </a:solidFill>
                <a:latin typeface="Montserrat"/>
                <a:ea typeface="Montserrat"/>
                <a:cs typeface="Montserrat"/>
                <a:sym typeface="Montserrat"/>
              </a:rPr>
              <a:t>Nel nostro setup UDA, le registrazioni in terza persona agiscono come Dominio Sorgente Etichettato, mentre i video in prima persona fungono da Dominio Target Non Etichettato.</a:t>
            </a:r>
          </a:p>
          <a:p>
            <a:pPr algn="l">
              <a:lnSpc>
                <a:spcPts val="3915"/>
              </a:lnSpc>
            </a:pPr>
          </a:p>
        </p:txBody>
      </p:sp>
      <p:grpSp>
        <p:nvGrpSpPr>
          <p:cNvPr name="Group 3" id="3"/>
          <p:cNvGrpSpPr/>
          <p:nvPr/>
        </p:nvGrpSpPr>
        <p:grpSpPr>
          <a:xfrm rot="0">
            <a:off x="461708" y="5820237"/>
            <a:ext cx="9659794" cy="1525813"/>
            <a:chOff x="0" y="0"/>
            <a:chExt cx="1684944" cy="266145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1684944" cy="266145"/>
            </a:xfrm>
            <a:custGeom>
              <a:avLst/>
              <a:gdLst/>
              <a:ahLst/>
              <a:cxnLst/>
              <a:rect r="r" b="b" t="t" l="l"/>
              <a:pathLst>
                <a:path h="266145" w="1684944">
                  <a:moveTo>
                    <a:pt x="0" y="0"/>
                  </a:moveTo>
                  <a:lnTo>
                    <a:pt x="1684944" y="0"/>
                  </a:lnTo>
                  <a:lnTo>
                    <a:pt x="1684944" y="266145"/>
                  </a:lnTo>
                  <a:lnTo>
                    <a:pt x="0" y="266145"/>
                  </a:lnTo>
                  <a:close/>
                </a:path>
              </a:pathLst>
            </a:custGeom>
            <a:gradFill rotWithShape="true">
              <a:gsLst>
                <a:gs pos="0">
                  <a:srgbClr val="5170FF">
                    <a:alpha val="76000"/>
                  </a:srgbClr>
                </a:gs>
                <a:gs pos="100000">
                  <a:srgbClr val="FF66C4">
                    <a:alpha val="76000"/>
                  </a:srgbClr>
                </a:gs>
              </a:gsLst>
              <a:lin ang="0"/>
            </a:gradFill>
            <a:ln cap="sq">
              <a:noFill/>
              <a:prstDash val="solid"/>
              <a:miter/>
            </a:ln>
          </p:spPr>
        </p:sp>
        <p:sp>
          <p:nvSpPr>
            <p:cNvPr name="TextBox 5" id="5"/>
            <p:cNvSpPr txBox="true"/>
            <p:nvPr/>
          </p:nvSpPr>
          <p:spPr>
            <a:xfrm>
              <a:off x="0" y="-9525"/>
              <a:ext cx="1684944" cy="27567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337"/>
                </a:lnSpc>
                <a:spcBef>
                  <a:spcPct val="0"/>
                </a:spcBef>
              </a:pPr>
            </a:p>
          </p:txBody>
        </p:sp>
      </p:grpSp>
      <p:sp>
        <p:nvSpPr>
          <p:cNvPr name="TextBox 6" id="6"/>
          <p:cNvSpPr txBox="true"/>
          <p:nvPr/>
        </p:nvSpPr>
        <p:spPr>
          <a:xfrm rot="0">
            <a:off x="442658" y="397816"/>
            <a:ext cx="15898000" cy="16383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6000"/>
              </a:lnSpc>
              <a:spcBef>
                <a:spcPct val="0"/>
              </a:spcBef>
            </a:pPr>
            <a:r>
              <a:rPr lang="en-US" sz="6000">
                <a:solidFill>
                  <a:srgbClr val="000000"/>
                </a:solidFill>
                <a:latin typeface="Horizon"/>
                <a:ea typeface="Horizon"/>
                <a:cs typeface="Horizon"/>
                <a:sym typeface="Horizon"/>
              </a:rPr>
              <a:t>Cha</a:t>
            </a:r>
            <a:r>
              <a:rPr lang="en-US" b="true" sz="6000" strike="noStrike" u="none">
                <a:solidFill>
                  <a:srgbClr val="000000"/>
                </a:solidFill>
                <a:latin typeface="Horizon"/>
                <a:ea typeface="Horizon"/>
                <a:cs typeface="Horizon"/>
                <a:sym typeface="Horizon"/>
              </a:rPr>
              <a:t>rades-Ego Dataset</a:t>
            </a:r>
          </a:p>
          <a:p>
            <a:pPr algn="l" marL="0" indent="0" lvl="0">
              <a:lnSpc>
                <a:spcPts val="6000"/>
              </a:lnSpc>
              <a:spcBef>
                <a:spcPct val="0"/>
              </a:spcBef>
            </a:pPr>
          </a:p>
        </p:txBody>
      </p:sp>
      <p:sp>
        <p:nvSpPr>
          <p:cNvPr name="TextBox 7" id="7"/>
          <p:cNvSpPr txBox="true"/>
          <p:nvPr/>
        </p:nvSpPr>
        <p:spPr>
          <a:xfrm rot="0">
            <a:off x="723581" y="1969441"/>
            <a:ext cx="8249603" cy="64540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376"/>
              </a:lnSpc>
            </a:pPr>
            <a:r>
              <a:rPr lang="en-US" sz="3840" b="true">
                <a:solidFill>
                  <a:srgbClr val="000000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Set</a:t>
            </a:r>
            <a:r>
              <a:rPr lang="en-US" b="true" sz="3840">
                <a:solidFill>
                  <a:srgbClr val="000000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up per la Domain Adaptation</a:t>
            </a:r>
          </a:p>
        </p:txBody>
      </p:sp>
      <p:grpSp>
        <p:nvGrpSpPr>
          <p:cNvPr name="Group 8" id="8"/>
          <p:cNvGrpSpPr/>
          <p:nvPr/>
        </p:nvGrpSpPr>
        <p:grpSpPr>
          <a:xfrm rot="0">
            <a:off x="5657975" y="7732487"/>
            <a:ext cx="9659794" cy="1525813"/>
            <a:chOff x="0" y="0"/>
            <a:chExt cx="1684944" cy="266145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1684944" cy="266145"/>
            </a:xfrm>
            <a:custGeom>
              <a:avLst/>
              <a:gdLst/>
              <a:ahLst/>
              <a:cxnLst/>
              <a:rect r="r" b="b" t="t" l="l"/>
              <a:pathLst>
                <a:path h="266145" w="1684944">
                  <a:moveTo>
                    <a:pt x="0" y="0"/>
                  </a:moveTo>
                  <a:lnTo>
                    <a:pt x="1684944" y="0"/>
                  </a:lnTo>
                  <a:lnTo>
                    <a:pt x="1684944" y="266145"/>
                  </a:lnTo>
                  <a:lnTo>
                    <a:pt x="0" y="266145"/>
                  </a:lnTo>
                  <a:close/>
                </a:path>
              </a:pathLst>
            </a:custGeom>
            <a:gradFill rotWithShape="true">
              <a:gsLst>
                <a:gs pos="0">
                  <a:srgbClr val="5170FF">
                    <a:alpha val="76000"/>
                  </a:srgbClr>
                </a:gs>
                <a:gs pos="100000">
                  <a:srgbClr val="FF66C4">
                    <a:alpha val="76000"/>
                  </a:srgbClr>
                </a:gs>
              </a:gsLst>
              <a:lin ang="0"/>
            </a:gradFill>
            <a:ln cap="sq">
              <a:noFill/>
              <a:prstDash val="solid"/>
              <a:miter/>
            </a:ln>
          </p:spPr>
        </p:sp>
        <p:sp>
          <p:nvSpPr>
            <p:cNvPr name="TextBox 10" id="10"/>
            <p:cNvSpPr txBox="true"/>
            <p:nvPr/>
          </p:nvSpPr>
          <p:spPr>
            <a:xfrm>
              <a:off x="0" y="-9525"/>
              <a:ext cx="1684944" cy="27567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337"/>
                </a:lnSpc>
                <a:spcBef>
                  <a:spcPct val="0"/>
                </a:spcBef>
              </a:pPr>
            </a:p>
          </p:txBody>
        </p:sp>
      </p:grpSp>
      <p:sp>
        <p:nvSpPr>
          <p:cNvPr name="TextBox 11" id="11"/>
          <p:cNvSpPr txBox="true"/>
          <p:nvPr/>
        </p:nvSpPr>
        <p:spPr>
          <a:xfrm rot="0">
            <a:off x="631040" y="5552871"/>
            <a:ext cx="9283031" cy="263278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9375"/>
              </a:lnSpc>
            </a:pPr>
            <a:r>
              <a:rPr lang="en-US" sz="6697" b="true">
                <a:solidFill>
                  <a:srgbClr val="581DAC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157</a:t>
            </a:r>
          </a:p>
          <a:p>
            <a:pPr algn="ctr">
              <a:lnSpc>
                <a:spcPts val="4616"/>
              </a:lnSpc>
            </a:pPr>
            <a:r>
              <a:rPr lang="en-US" sz="3297" b="true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Classi di </a:t>
            </a:r>
            <a:r>
              <a:rPr lang="en-US" b="true" sz="3297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Azione (Coda Lunga)</a:t>
            </a:r>
          </a:p>
          <a:p>
            <a:pPr algn="ctr">
              <a:lnSpc>
                <a:spcPts val="6996"/>
              </a:lnSpc>
            </a:pPr>
          </a:p>
        </p:txBody>
      </p:sp>
      <p:sp>
        <p:nvSpPr>
          <p:cNvPr name="TextBox 12" id="12"/>
          <p:cNvSpPr txBox="true"/>
          <p:nvPr/>
        </p:nvSpPr>
        <p:spPr>
          <a:xfrm rot="0">
            <a:off x="6681727" y="7441300"/>
            <a:ext cx="8039089" cy="26682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9379"/>
              </a:lnSpc>
            </a:pPr>
            <a:r>
              <a:rPr lang="en-US" sz="6699" b="true">
                <a:solidFill>
                  <a:srgbClr val="581DAC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7.860</a:t>
            </a:r>
          </a:p>
          <a:p>
            <a:pPr algn="ctr">
              <a:lnSpc>
                <a:spcPts val="4620"/>
              </a:lnSpc>
            </a:pPr>
            <a:r>
              <a:rPr lang="en-US" sz="3300" b="true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Video </a:t>
            </a:r>
            <a:r>
              <a:rPr lang="en-US" b="true" sz="3300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Appaiati (87k Segmenti)</a:t>
            </a:r>
          </a:p>
          <a:p>
            <a:pPr algn="ctr">
              <a:lnSpc>
                <a:spcPts val="7279"/>
              </a:lnSpc>
            </a:pPr>
          </a:p>
        </p:txBody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1088592" y="1330832"/>
            <a:ext cx="13111300" cy="24003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6000"/>
              </a:lnSpc>
              <a:spcBef>
                <a:spcPct val="0"/>
              </a:spcBef>
            </a:pPr>
            <a:r>
              <a:rPr lang="en-US" sz="6000">
                <a:solidFill>
                  <a:srgbClr val="000000"/>
                </a:solidFill>
                <a:latin typeface="Horizon"/>
                <a:ea typeface="Horizon"/>
                <a:cs typeface="Horizon"/>
                <a:sym typeface="Horizon"/>
              </a:rPr>
              <a:t>Es</a:t>
            </a:r>
            <a:r>
              <a:rPr lang="en-US" b="true" sz="6000" strike="noStrike" u="none">
                <a:solidFill>
                  <a:srgbClr val="000000"/>
                </a:solidFill>
                <a:latin typeface="Horizon"/>
                <a:ea typeface="Horizon"/>
                <a:cs typeface="Horizon"/>
                <a:sym typeface="Horizon"/>
              </a:rPr>
              <a:t>trazione delle Feature</a:t>
            </a:r>
          </a:p>
          <a:p>
            <a:pPr algn="l" marL="0" indent="0" lvl="0">
              <a:lnSpc>
                <a:spcPts val="6000"/>
              </a:lnSpc>
              <a:spcBef>
                <a:spcPct val="0"/>
              </a:spcBef>
            </a:pPr>
          </a:p>
        </p:txBody>
      </p:sp>
      <p:grpSp>
        <p:nvGrpSpPr>
          <p:cNvPr name="Group 3" id="3"/>
          <p:cNvGrpSpPr/>
          <p:nvPr/>
        </p:nvGrpSpPr>
        <p:grpSpPr>
          <a:xfrm rot="0">
            <a:off x="321156" y="4510736"/>
            <a:ext cx="5771642" cy="4747564"/>
            <a:chOff x="0" y="0"/>
            <a:chExt cx="1006739" cy="828111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1006739" cy="828111"/>
            </a:xfrm>
            <a:custGeom>
              <a:avLst/>
              <a:gdLst/>
              <a:ahLst/>
              <a:cxnLst/>
              <a:rect r="r" b="b" t="t" l="l"/>
              <a:pathLst>
                <a:path h="828111" w="1006739">
                  <a:moveTo>
                    <a:pt x="0" y="0"/>
                  </a:moveTo>
                  <a:lnTo>
                    <a:pt x="1006739" y="0"/>
                  </a:lnTo>
                  <a:lnTo>
                    <a:pt x="1006739" y="828111"/>
                  </a:lnTo>
                  <a:lnTo>
                    <a:pt x="0" y="828111"/>
                  </a:lnTo>
                  <a:close/>
                </a:path>
              </a:pathLst>
            </a:custGeom>
            <a:gradFill rotWithShape="true">
              <a:gsLst>
                <a:gs pos="0">
                  <a:srgbClr val="5170FF">
                    <a:alpha val="76000"/>
                  </a:srgbClr>
                </a:gs>
                <a:gs pos="100000">
                  <a:srgbClr val="FF66C4">
                    <a:alpha val="76000"/>
                  </a:srgbClr>
                </a:gs>
              </a:gsLst>
              <a:lin ang="0"/>
            </a:gradFill>
            <a:ln cap="sq">
              <a:noFill/>
              <a:prstDash val="solid"/>
              <a:miter/>
            </a:ln>
          </p:spPr>
        </p:sp>
        <p:sp>
          <p:nvSpPr>
            <p:cNvPr name="TextBox 5" id="5"/>
            <p:cNvSpPr txBox="true"/>
            <p:nvPr/>
          </p:nvSpPr>
          <p:spPr>
            <a:xfrm>
              <a:off x="0" y="-9525"/>
              <a:ext cx="1006739" cy="83763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337"/>
                </a:lnSpc>
                <a:spcBef>
                  <a:spcPct val="0"/>
                </a:spcBef>
              </a:pPr>
            </a:p>
          </p:txBody>
        </p:sp>
      </p:grpSp>
      <p:sp>
        <p:nvSpPr>
          <p:cNvPr name="TextBox 6" id="6"/>
          <p:cNvSpPr txBox="true"/>
          <p:nvPr/>
        </p:nvSpPr>
        <p:spPr>
          <a:xfrm rot="0">
            <a:off x="374276" y="5356873"/>
            <a:ext cx="5718522" cy="314419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712"/>
              </a:lnSpc>
            </a:pPr>
            <a:r>
              <a:rPr lang="en-US" sz="3374" b="true">
                <a:solidFill>
                  <a:srgbClr val="000000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1. Cam</a:t>
            </a:r>
            <a:r>
              <a:rPr lang="en-US" sz="3374" b="true">
                <a:solidFill>
                  <a:srgbClr val="000000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pionamento</a:t>
            </a:r>
          </a:p>
          <a:p>
            <a:pPr algn="ctr">
              <a:lnSpc>
                <a:spcPts val="3052"/>
              </a:lnSpc>
            </a:pPr>
            <a:r>
              <a:rPr lang="en-US" sz="2774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I video originali vengono processati estraendo frame a una frequenza fissa di 5 fps, applicando il preprocessing ImageNet standard per ridurre la dimensionalità in ingresso.</a:t>
            </a:r>
          </a:p>
          <a:p>
            <a:pPr algn="ctr">
              <a:lnSpc>
                <a:spcPts val="3052"/>
              </a:lnSpc>
            </a:pPr>
          </a:p>
        </p:txBody>
      </p:sp>
      <p:grpSp>
        <p:nvGrpSpPr>
          <p:cNvPr name="Group 7" id="7"/>
          <p:cNvGrpSpPr/>
          <p:nvPr/>
        </p:nvGrpSpPr>
        <p:grpSpPr>
          <a:xfrm rot="0">
            <a:off x="6263037" y="4510736"/>
            <a:ext cx="5771642" cy="4747564"/>
            <a:chOff x="0" y="0"/>
            <a:chExt cx="1006739" cy="828111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1006739" cy="828111"/>
            </a:xfrm>
            <a:custGeom>
              <a:avLst/>
              <a:gdLst/>
              <a:ahLst/>
              <a:cxnLst/>
              <a:rect r="r" b="b" t="t" l="l"/>
              <a:pathLst>
                <a:path h="828111" w="1006739">
                  <a:moveTo>
                    <a:pt x="0" y="0"/>
                  </a:moveTo>
                  <a:lnTo>
                    <a:pt x="1006739" y="0"/>
                  </a:lnTo>
                  <a:lnTo>
                    <a:pt x="1006739" y="828111"/>
                  </a:lnTo>
                  <a:lnTo>
                    <a:pt x="0" y="828111"/>
                  </a:lnTo>
                  <a:close/>
                </a:path>
              </a:pathLst>
            </a:custGeom>
            <a:gradFill rotWithShape="true">
              <a:gsLst>
                <a:gs pos="0">
                  <a:srgbClr val="5170FF">
                    <a:alpha val="76000"/>
                  </a:srgbClr>
                </a:gs>
                <a:gs pos="100000">
                  <a:srgbClr val="FF66C4">
                    <a:alpha val="76000"/>
                  </a:srgbClr>
                </a:gs>
              </a:gsLst>
              <a:lin ang="0"/>
            </a:gradFill>
            <a:ln cap="sq">
              <a:noFill/>
              <a:prstDash val="solid"/>
              <a:miter/>
            </a:ln>
          </p:spPr>
        </p:sp>
        <p:sp>
          <p:nvSpPr>
            <p:cNvPr name="TextBox 9" id="9"/>
            <p:cNvSpPr txBox="true"/>
            <p:nvPr/>
          </p:nvSpPr>
          <p:spPr>
            <a:xfrm>
              <a:off x="0" y="-9525"/>
              <a:ext cx="1006739" cy="83763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337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12206128" y="4517254"/>
            <a:ext cx="5771642" cy="4747564"/>
            <a:chOff x="0" y="0"/>
            <a:chExt cx="1006739" cy="828111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1006739" cy="828111"/>
            </a:xfrm>
            <a:custGeom>
              <a:avLst/>
              <a:gdLst/>
              <a:ahLst/>
              <a:cxnLst/>
              <a:rect r="r" b="b" t="t" l="l"/>
              <a:pathLst>
                <a:path h="828111" w="1006739">
                  <a:moveTo>
                    <a:pt x="0" y="0"/>
                  </a:moveTo>
                  <a:lnTo>
                    <a:pt x="1006739" y="0"/>
                  </a:lnTo>
                  <a:lnTo>
                    <a:pt x="1006739" y="828111"/>
                  </a:lnTo>
                  <a:lnTo>
                    <a:pt x="0" y="828111"/>
                  </a:lnTo>
                  <a:close/>
                </a:path>
              </a:pathLst>
            </a:custGeom>
            <a:gradFill rotWithShape="true">
              <a:gsLst>
                <a:gs pos="0">
                  <a:srgbClr val="5170FF">
                    <a:alpha val="76000"/>
                  </a:srgbClr>
                </a:gs>
                <a:gs pos="100000">
                  <a:srgbClr val="FF66C4">
                    <a:alpha val="76000"/>
                  </a:srgbClr>
                </a:gs>
              </a:gsLst>
              <a:lin ang="0"/>
            </a:gradFill>
            <a:ln cap="sq">
              <a:noFill/>
              <a:prstDash val="solid"/>
              <a:miter/>
            </a:ln>
          </p:spPr>
        </p:sp>
        <p:sp>
          <p:nvSpPr>
            <p:cNvPr name="TextBox 12" id="12"/>
            <p:cNvSpPr txBox="true"/>
            <p:nvPr/>
          </p:nvSpPr>
          <p:spPr>
            <a:xfrm>
              <a:off x="0" y="-9525"/>
              <a:ext cx="1006739" cy="83763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337"/>
                </a:lnSpc>
                <a:spcBef>
                  <a:spcPct val="0"/>
                </a:spcBef>
              </a:pPr>
            </a:p>
          </p:txBody>
        </p:sp>
      </p:grpSp>
      <p:sp>
        <p:nvSpPr>
          <p:cNvPr name="TextBox 13" id="13"/>
          <p:cNvSpPr txBox="true"/>
          <p:nvPr/>
        </p:nvSpPr>
        <p:spPr>
          <a:xfrm rot="0">
            <a:off x="6316156" y="5326707"/>
            <a:ext cx="5718522" cy="328828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816"/>
              </a:lnSpc>
            </a:pPr>
            <a:r>
              <a:rPr lang="en-US" sz="3469" b="true">
                <a:solidFill>
                  <a:srgbClr val="000000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2. ResN</a:t>
            </a:r>
            <a:r>
              <a:rPr lang="en-US" sz="3469" b="true">
                <a:solidFill>
                  <a:srgbClr val="000000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et-50</a:t>
            </a:r>
          </a:p>
          <a:p>
            <a:pPr algn="ctr">
              <a:lnSpc>
                <a:spcPts val="3156"/>
              </a:lnSpc>
            </a:pPr>
            <a:r>
              <a:rPr lang="en-US" sz="2869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Sfrutt</a:t>
            </a:r>
            <a:r>
              <a:rPr lang="en-US" sz="2869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iamo una ResNet-50 pre-addestrata su ImageNet-1K. Rimuoviamo la testa di classificazione per ottenere embedding 2048-D per singolo frame.</a:t>
            </a:r>
          </a:p>
          <a:p>
            <a:pPr algn="ctr">
              <a:lnSpc>
                <a:spcPts val="3156"/>
              </a:lnSpc>
            </a:pPr>
          </a:p>
        </p:txBody>
      </p:sp>
      <p:sp>
        <p:nvSpPr>
          <p:cNvPr name="TextBox 14" id="14"/>
          <p:cNvSpPr txBox="true"/>
          <p:nvPr/>
        </p:nvSpPr>
        <p:spPr>
          <a:xfrm rot="0">
            <a:off x="12259248" y="5336232"/>
            <a:ext cx="5718522" cy="281330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147"/>
              </a:lnSpc>
            </a:pPr>
            <a:r>
              <a:rPr lang="en-US" sz="3770" b="true">
                <a:solidFill>
                  <a:srgbClr val="000000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3. Aggregaz</a:t>
            </a:r>
            <a:r>
              <a:rPr lang="en-US" sz="3770" b="true">
                <a:solidFill>
                  <a:srgbClr val="000000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ione</a:t>
            </a:r>
          </a:p>
          <a:p>
            <a:pPr algn="ctr">
              <a:lnSpc>
                <a:spcPts val="3046"/>
              </a:lnSpc>
            </a:pPr>
            <a:r>
              <a:rPr lang="en-US" sz="2769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Applichiamo mean-pooling su tutti i frame di un segmento annotato. Mantenere un backbone conservativo ci isola i contributi effettivi della DA.</a:t>
            </a:r>
          </a:p>
          <a:p>
            <a:pPr algn="ctr">
              <a:lnSpc>
                <a:spcPts val="3046"/>
              </a:lnSpc>
            </a:pPr>
          </a:p>
        </p:txBody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>
            <a:off x="10486665" y="4727189"/>
            <a:ext cx="422298" cy="0"/>
          </a:xfrm>
          <a:prstGeom prst="line">
            <a:avLst/>
          </a:prstGeom>
          <a:ln cap="flat" w="19050">
            <a:solidFill>
              <a:srgbClr val="FFFFFF"/>
            </a:solidFill>
            <a:prstDash val="solid"/>
            <a:headEnd type="none" len="sm" w="sm"/>
            <a:tailEnd type="arrow" len="sm" w="med"/>
          </a:ln>
        </p:spPr>
      </p:sp>
      <p:sp>
        <p:nvSpPr>
          <p:cNvPr name="Freeform 3" id="3"/>
          <p:cNvSpPr/>
          <p:nvPr/>
        </p:nvSpPr>
        <p:spPr>
          <a:xfrm flipH="false" flipV="false" rot="0">
            <a:off x="2601789" y="6592116"/>
            <a:ext cx="13842353" cy="830541"/>
          </a:xfrm>
          <a:custGeom>
            <a:avLst/>
            <a:gdLst/>
            <a:ahLst/>
            <a:cxnLst/>
            <a:rect r="r" b="b" t="t" l="l"/>
            <a:pathLst>
              <a:path h="830541" w="13842353">
                <a:moveTo>
                  <a:pt x="0" y="0"/>
                </a:moveTo>
                <a:lnTo>
                  <a:pt x="13842353" y="0"/>
                </a:lnTo>
                <a:lnTo>
                  <a:pt x="13842353" y="830541"/>
                </a:lnTo>
                <a:lnTo>
                  <a:pt x="0" y="830541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3227954" y="6595360"/>
            <a:ext cx="1261370" cy="979282"/>
          </a:xfrm>
          <a:custGeom>
            <a:avLst/>
            <a:gdLst/>
            <a:ahLst/>
            <a:cxnLst/>
            <a:rect r="r" b="b" t="t" l="l"/>
            <a:pathLst>
              <a:path h="979282" w="1261370">
                <a:moveTo>
                  <a:pt x="0" y="0"/>
                </a:moveTo>
                <a:lnTo>
                  <a:pt x="1261370" y="0"/>
                </a:lnTo>
                <a:lnTo>
                  <a:pt x="1261370" y="979282"/>
                </a:lnTo>
                <a:lnTo>
                  <a:pt x="0" y="979282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5" id="5"/>
          <p:cNvSpPr txBox="true"/>
          <p:nvPr/>
        </p:nvSpPr>
        <p:spPr>
          <a:xfrm rot="0">
            <a:off x="1088592" y="1330832"/>
            <a:ext cx="16340968" cy="16383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000"/>
              </a:lnSpc>
            </a:pPr>
            <a:r>
              <a:rPr lang="en-US" sz="6000">
                <a:solidFill>
                  <a:srgbClr val="000000"/>
                </a:solidFill>
                <a:latin typeface="Horizon"/>
                <a:ea typeface="Horizon"/>
                <a:cs typeface="Horizon"/>
                <a:sym typeface="Horizon"/>
              </a:rPr>
              <a:t>DA Avversariale (DANN)</a:t>
            </a:r>
          </a:p>
          <a:p>
            <a:pPr algn="l" marL="0" indent="0" lvl="0">
              <a:lnSpc>
                <a:spcPts val="6000"/>
              </a:lnSpc>
              <a:spcBef>
                <a:spcPct val="0"/>
              </a:spcBef>
            </a:pPr>
          </a:p>
        </p:txBody>
      </p:sp>
      <p:sp>
        <p:nvSpPr>
          <p:cNvPr name="TextBox 6" id="6"/>
          <p:cNvSpPr txBox="true"/>
          <p:nvPr/>
        </p:nvSpPr>
        <p:spPr>
          <a:xfrm rot="0">
            <a:off x="0" y="2500631"/>
            <a:ext cx="11519416" cy="18014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279"/>
              </a:lnSpc>
            </a:pPr>
            <a:r>
              <a:rPr lang="en-US" sz="5199" b="true">
                <a:solidFill>
                  <a:srgbClr val="000000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In</a:t>
            </a:r>
            <a:r>
              <a:rPr lang="en-US" b="true" sz="5199">
                <a:solidFill>
                  <a:srgbClr val="000000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gannare il Discriminatore</a:t>
            </a:r>
          </a:p>
          <a:p>
            <a:pPr algn="ctr">
              <a:lnSpc>
                <a:spcPts val="7279"/>
              </a:lnSpc>
            </a:pPr>
          </a:p>
        </p:txBody>
      </p:sp>
      <p:sp>
        <p:nvSpPr>
          <p:cNvPr name="TextBox 7" id="7"/>
          <p:cNvSpPr txBox="true"/>
          <p:nvPr/>
        </p:nvSpPr>
        <p:spPr>
          <a:xfrm rot="0">
            <a:off x="610453" y="3939654"/>
            <a:ext cx="12908484" cy="17726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745"/>
              </a:lnSpc>
            </a:pPr>
            <a:r>
              <a:rPr lang="en-US" sz="3389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Il modello apprende a </a:t>
            </a:r>
            <a:r>
              <a:rPr lang="en-US" sz="3389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ingannare un discriminatore di dominio parallelo tramite l'inversione dei gradienti nel backward pass, costringendo l'encoder a estrarre feature invarianti.</a:t>
            </a:r>
          </a:p>
        </p:txBody>
      </p:sp>
      <p:sp>
        <p:nvSpPr>
          <p:cNvPr name="Freeform 8" id="8"/>
          <p:cNvSpPr/>
          <p:nvPr/>
        </p:nvSpPr>
        <p:spPr>
          <a:xfrm flipH="false" flipV="false" rot="0">
            <a:off x="8892281" y="6517746"/>
            <a:ext cx="1261370" cy="979282"/>
          </a:xfrm>
          <a:custGeom>
            <a:avLst/>
            <a:gdLst/>
            <a:ahLst/>
            <a:cxnLst/>
            <a:rect r="r" b="b" t="t" l="l"/>
            <a:pathLst>
              <a:path h="979282" w="1261370">
                <a:moveTo>
                  <a:pt x="0" y="0"/>
                </a:moveTo>
                <a:lnTo>
                  <a:pt x="1261370" y="0"/>
                </a:lnTo>
                <a:lnTo>
                  <a:pt x="1261370" y="979282"/>
                </a:lnTo>
                <a:lnTo>
                  <a:pt x="0" y="979282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AutoShape 9" id="9"/>
          <p:cNvSpPr/>
          <p:nvPr/>
        </p:nvSpPr>
        <p:spPr>
          <a:xfrm>
            <a:off x="5897880" y="5143500"/>
            <a:ext cx="6492240" cy="0"/>
          </a:xfrm>
          <a:prstGeom prst="line">
            <a:avLst/>
          </a:prstGeom>
          <a:ln cap="flat" w="38100">
            <a:solidFill>
              <a:srgbClr val="FFFFFF"/>
            </a:solidFill>
            <a:prstDash val="solid"/>
            <a:headEnd type="none" len="sm" w="sm"/>
            <a:tailEnd type="triangle" len="med" w="lg"/>
          </a:ln>
        </p:spPr>
      </p:sp>
      <p:sp>
        <p:nvSpPr>
          <p:cNvPr name="Freeform 10" id="10"/>
          <p:cNvSpPr/>
          <p:nvPr/>
        </p:nvSpPr>
        <p:spPr>
          <a:xfrm flipH="false" flipV="false" rot="0">
            <a:off x="2924536" y="7007387"/>
            <a:ext cx="1868205" cy="1134510"/>
          </a:xfrm>
          <a:custGeom>
            <a:avLst/>
            <a:gdLst/>
            <a:ahLst/>
            <a:cxnLst/>
            <a:rect r="r" b="b" t="t" l="l"/>
            <a:pathLst>
              <a:path h="1134510" w="1868205">
                <a:moveTo>
                  <a:pt x="0" y="0"/>
                </a:moveTo>
                <a:lnTo>
                  <a:pt x="1868206" y="0"/>
                </a:lnTo>
                <a:lnTo>
                  <a:pt x="1868206" y="1134510"/>
                </a:lnTo>
                <a:lnTo>
                  <a:pt x="0" y="1134510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11" id="11"/>
          <p:cNvSpPr txBox="true"/>
          <p:nvPr/>
        </p:nvSpPr>
        <p:spPr>
          <a:xfrm rot="0">
            <a:off x="931158" y="8547669"/>
            <a:ext cx="17183616" cy="11449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620"/>
              </a:lnSpc>
            </a:pPr>
            <a:r>
              <a:rPr lang="en-US" sz="330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Impleme</a:t>
            </a:r>
            <a:r>
              <a:rPr lang="en-US" sz="330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ntato con warmup avversariale (5 epoche) e schedulazione del parametro </a:t>
            </a:r>
          </a:p>
          <a:p>
            <a:pPr algn="l">
              <a:lnSpc>
                <a:spcPts val="4620"/>
              </a:lnSpc>
            </a:pPr>
            <a:r>
              <a:rPr lang="en-US" sz="330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λ (0,5) per stabilizzare l'apprendimento iniziale.</a:t>
            </a:r>
          </a:p>
        </p:txBody>
      </p:sp>
      <p:sp>
        <p:nvSpPr>
          <p:cNvPr name="Freeform 12" id="12"/>
          <p:cNvSpPr/>
          <p:nvPr/>
        </p:nvSpPr>
        <p:spPr>
          <a:xfrm flipH="false" flipV="true" rot="0">
            <a:off x="9259076" y="5973054"/>
            <a:ext cx="1597903" cy="970363"/>
          </a:xfrm>
          <a:custGeom>
            <a:avLst/>
            <a:gdLst/>
            <a:ahLst/>
            <a:cxnLst/>
            <a:rect r="r" b="b" t="t" l="l"/>
            <a:pathLst>
              <a:path h="970363" w="1597903">
                <a:moveTo>
                  <a:pt x="0" y="970362"/>
                </a:moveTo>
                <a:lnTo>
                  <a:pt x="1597902" y="970362"/>
                </a:lnTo>
                <a:lnTo>
                  <a:pt x="1597902" y="0"/>
                </a:lnTo>
                <a:lnTo>
                  <a:pt x="0" y="0"/>
                </a:lnTo>
                <a:lnTo>
                  <a:pt x="0" y="970362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13" id="13"/>
          <p:cNvSpPr txBox="true"/>
          <p:nvPr/>
        </p:nvSpPr>
        <p:spPr>
          <a:xfrm rot="0">
            <a:off x="4792742" y="7561507"/>
            <a:ext cx="4351258" cy="5803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759"/>
              </a:lnSpc>
            </a:pPr>
            <a:r>
              <a:rPr lang="en-US" sz="3399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Loss d</a:t>
            </a:r>
            <a:r>
              <a:rPr lang="en-US" sz="3399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i classificazione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10856978" y="5645629"/>
            <a:ext cx="6339959" cy="109154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411"/>
              </a:lnSpc>
            </a:pPr>
            <a:r>
              <a:rPr lang="en-US" sz="315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Loss di dominio, fatta passare dal </a:t>
            </a:r>
          </a:p>
          <a:p>
            <a:pPr algn="ctr">
              <a:lnSpc>
                <a:spcPts val="4411"/>
              </a:lnSpc>
            </a:pPr>
            <a:r>
              <a:rPr lang="en-US" sz="315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Gradient Reversal Layer</a:t>
            </a:r>
          </a:p>
        </p:txBody>
      </p: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>
            <a:off x="10486665" y="4727189"/>
            <a:ext cx="422298" cy="0"/>
          </a:xfrm>
          <a:prstGeom prst="line">
            <a:avLst/>
          </a:prstGeom>
          <a:ln cap="flat" w="19050">
            <a:solidFill>
              <a:srgbClr val="FFFFFF"/>
            </a:solidFill>
            <a:prstDash val="solid"/>
            <a:headEnd type="none" len="sm" w="sm"/>
            <a:tailEnd type="arrow" len="sm" w="med"/>
          </a:ln>
        </p:spPr>
      </p:sp>
      <p:sp>
        <p:nvSpPr>
          <p:cNvPr name="Freeform 3" id="3"/>
          <p:cNvSpPr/>
          <p:nvPr/>
        </p:nvSpPr>
        <p:spPr>
          <a:xfrm flipH="false" flipV="false" rot="0">
            <a:off x="2289811" y="5844329"/>
            <a:ext cx="13708378" cy="1793513"/>
          </a:xfrm>
          <a:custGeom>
            <a:avLst/>
            <a:gdLst/>
            <a:ahLst/>
            <a:cxnLst/>
            <a:rect r="r" b="b" t="t" l="l"/>
            <a:pathLst>
              <a:path h="1793513" w="13708378">
                <a:moveTo>
                  <a:pt x="0" y="0"/>
                </a:moveTo>
                <a:lnTo>
                  <a:pt x="13708378" y="0"/>
                </a:lnTo>
                <a:lnTo>
                  <a:pt x="13708378" y="1793513"/>
                </a:lnTo>
                <a:lnTo>
                  <a:pt x="0" y="1793513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4" id="4"/>
          <p:cNvSpPr txBox="true"/>
          <p:nvPr/>
        </p:nvSpPr>
        <p:spPr>
          <a:xfrm rot="0">
            <a:off x="918332" y="637051"/>
            <a:ext cx="16340968" cy="24003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000"/>
              </a:lnSpc>
            </a:pPr>
          </a:p>
          <a:p>
            <a:pPr algn="l">
              <a:lnSpc>
                <a:spcPts val="6000"/>
              </a:lnSpc>
            </a:pPr>
            <a:r>
              <a:rPr lang="en-US" sz="6000" b="true">
                <a:solidFill>
                  <a:srgbClr val="000000"/>
                </a:solidFill>
                <a:latin typeface="Horizon"/>
                <a:ea typeface="Horizon"/>
                <a:cs typeface="Horizon"/>
                <a:sym typeface="Horizon"/>
              </a:rPr>
              <a:t>DA Statistica (MMD)</a:t>
            </a:r>
          </a:p>
          <a:p>
            <a:pPr algn="l" marL="0" indent="0" lvl="0">
              <a:lnSpc>
                <a:spcPts val="6000"/>
              </a:lnSpc>
              <a:spcBef>
                <a:spcPct val="0"/>
              </a:spcBef>
            </a:pPr>
          </a:p>
        </p:txBody>
      </p:sp>
      <p:sp>
        <p:nvSpPr>
          <p:cNvPr name="TextBox 5" id="5"/>
          <p:cNvSpPr txBox="true"/>
          <p:nvPr/>
        </p:nvSpPr>
        <p:spPr>
          <a:xfrm rot="0">
            <a:off x="918332" y="2204834"/>
            <a:ext cx="11519416" cy="18014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279"/>
              </a:lnSpc>
            </a:pPr>
            <a:r>
              <a:rPr lang="en-US" sz="5199" b="true">
                <a:solidFill>
                  <a:srgbClr val="000000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Alline</a:t>
            </a:r>
            <a:r>
              <a:rPr lang="en-US" b="true" sz="5199">
                <a:solidFill>
                  <a:srgbClr val="000000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amento delle Distribuzioni</a:t>
            </a:r>
          </a:p>
          <a:p>
            <a:pPr algn="ctr">
              <a:lnSpc>
                <a:spcPts val="7279"/>
              </a:lnSpc>
            </a:pPr>
          </a:p>
        </p:txBody>
      </p:sp>
      <p:sp>
        <p:nvSpPr>
          <p:cNvPr name="TextBox 6" id="6"/>
          <p:cNvSpPr txBox="true"/>
          <p:nvPr/>
        </p:nvSpPr>
        <p:spPr>
          <a:xfrm rot="0">
            <a:off x="610453" y="3939654"/>
            <a:ext cx="12908484" cy="17726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745"/>
              </a:lnSpc>
            </a:pPr>
            <a:r>
              <a:rPr lang="en-US" sz="3389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Invece di usare dinamiche avvers</a:t>
            </a:r>
            <a:r>
              <a:rPr lang="en-US" sz="3389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ariali, MMD riduce direttamente la distanza statistica tra gli embedding di sorgente e target calcolando la Maximum Mean Discrepancy.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358852" y="7571167"/>
            <a:ext cx="16498402" cy="11449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620"/>
              </a:lnSpc>
            </a:pPr>
            <a:r>
              <a:rPr lang="en-US" sz="330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Utilizziam</a:t>
            </a:r>
            <a:r>
              <a:rPr lang="en-US" sz="330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o una miscela di 5 kernel RBF gaussiani a scale diverse per allineare le feature su granularità multiple simultaneamente.</a:t>
            </a:r>
          </a:p>
        </p:txBody>
      </p: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1028700" y="469587"/>
            <a:ext cx="16931226" cy="16383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6000"/>
              </a:lnSpc>
              <a:spcBef>
                <a:spcPct val="0"/>
              </a:spcBef>
            </a:pPr>
            <a:r>
              <a:rPr lang="en-US" sz="6000">
                <a:solidFill>
                  <a:srgbClr val="000000"/>
                </a:solidFill>
                <a:latin typeface="Horizon"/>
                <a:ea typeface="Horizon"/>
                <a:cs typeface="Horizon"/>
                <a:sym typeface="Horizon"/>
              </a:rPr>
              <a:t>R</a:t>
            </a:r>
            <a:r>
              <a:rPr lang="en-US" b="true" sz="6000" strike="noStrike" u="none">
                <a:solidFill>
                  <a:srgbClr val="000000"/>
                </a:solidFill>
                <a:latin typeface="Horizon"/>
                <a:ea typeface="Horizon"/>
                <a:cs typeface="Horizon"/>
                <a:sym typeface="Horizon"/>
              </a:rPr>
              <a:t>isultati: Top-5 Accuracy</a:t>
            </a:r>
          </a:p>
          <a:p>
            <a:pPr algn="l" marL="0" indent="0" lvl="0">
              <a:lnSpc>
                <a:spcPts val="6000"/>
              </a:lnSpc>
              <a:spcBef>
                <a:spcPct val="0"/>
              </a:spcBef>
            </a:pPr>
          </a:p>
        </p:txBody>
      </p:sp>
      <p:pic>
        <p:nvPicPr>
          <p:cNvPr name="Picture 3" id="3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 rot="0">
            <a:off x="-837565" y="-10253"/>
            <a:ext cx="19963130" cy="9241479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164037" y="8025713"/>
            <a:ext cx="17959926" cy="17805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759"/>
              </a:lnSpc>
            </a:pPr>
            <a:r>
              <a:rPr lang="en-US" sz="3399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Rispetto alla baseline zero-shot (B1), sia D</a:t>
            </a:r>
            <a:r>
              <a:rPr lang="en-US" sz="3399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ANN che MMD migliorano significativamente la Top-5 Accuracy, chiudendo il 32% del divario con l'oracolo supervisionato (B2) senza l'ausilio di alcuna etichetta target.</a:t>
            </a:r>
          </a:p>
        </p:txBody>
      </p: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028700" y="2445163"/>
            <a:ext cx="16230600" cy="5396674"/>
          </a:xfrm>
          <a:custGeom>
            <a:avLst/>
            <a:gdLst/>
            <a:ahLst/>
            <a:cxnLst/>
            <a:rect r="r" b="b" t="t" l="l"/>
            <a:pathLst>
              <a:path h="5396674" w="16230600">
                <a:moveTo>
                  <a:pt x="0" y="0"/>
                </a:moveTo>
                <a:lnTo>
                  <a:pt x="16230600" y="0"/>
                </a:lnTo>
                <a:lnTo>
                  <a:pt x="16230600" y="5396674"/>
                </a:lnTo>
                <a:lnTo>
                  <a:pt x="0" y="539667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1028700" y="593400"/>
            <a:ext cx="16230600" cy="24003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6000"/>
              </a:lnSpc>
              <a:spcBef>
                <a:spcPct val="0"/>
              </a:spcBef>
            </a:pPr>
            <a:r>
              <a:rPr lang="en-US" sz="6000">
                <a:solidFill>
                  <a:srgbClr val="000000"/>
                </a:solidFill>
                <a:latin typeface="Horizon"/>
                <a:ea typeface="Horizon"/>
                <a:cs typeface="Horizon"/>
                <a:sym typeface="Horizon"/>
              </a:rPr>
              <a:t>C</a:t>
            </a:r>
            <a:r>
              <a:rPr lang="en-US" b="true" sz="6000" strike="noStrike" u="none">
                <a:solidFill>
                  <a:srgbClr val="000000"/>
                </a:solidFill>
                <a:latin typeface="Horizon"/>
                <a:ea typeface="Horizon"/>
                <a:cs typeface="Horizon"/>
                <a:sym typeface="Horizon"/>
              </a:rPr>
              <a:t>onvergenza del Discriminatore</a:t>
            </a:r>
          </a:p>
          <a:p>
            <a:pPr algn="l" marL="0" indent="0" lvl="0">
              <a:lnSpc>
                <a:spcPts val="6000"/>
              </a:lnSpc>
              <a:spcBef>
                <a:spcPct val="0"/>
              </a:spcBef>
            </a:pPr>
          </a:p>
        </p:txBody>
      </p:sp>
      <p:sp>
        <p:nvSpPr>
          <p:cNvPr name="TextBox 4" id="4"/>
          <p:cNvSpPr txBox="true"/>
          <p:nvPr/>
        </p:nvSpPr>
        <p:spPr>
          <a:xfrm rot="0">
            <a:off x="270738" y="8334692"/>
            <a:ext cx="17259300" cy="17805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759"/>
              </a:lnSpc>
            </a:pPr>
            <a:r>
              <a:rPr lang="en-US" sz="3399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L'accuratezza del discriminatore di dom</a:t>
            </a:r>
            <a:r>
              <a:rPr lang="en-US" sz="3399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inio crolla dall'89% e si stabilizza vicino al lancio della moneta (57,8%) una volta attivato il GRL, con la domain loss a ln 2 (0.69). La confusione di dominio è riuscita.</a:t>
            </a:r>
          </a:p>
        </p:txBody>
      </p:sp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727185" y="2113449"/>
            <a:ext cx="17407921" cy="4820405"/>
          </a:xfrm>
          <a:custGeom>
            <a:avLst/>
            <a:gdLst/>
            <a:ahLst/>
            <a:cxnLst/>
            <a:rect r="r" b="b" t="t" l="l"/>
            <a:pathLst>
              <a:path h="4820405" w="17407921">
                <a:moveTo>
                  <a:pt x="0" y="0"/>
                </a:moveTo>
                <a:lnTo>
                  <a:pt x="17407921" y="0"/>
                </a:lnTo>
                <a:lnTo>
                  <a:pt x="17407921" y="4820405"/>
                </a:lnTo>
                <a:lnTo>
                  <a:pt x="0" y="4820405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4319" r="0" b="-4319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1028700" y="593400"/>
            <a:ext cx="14786662" cy="24003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6000"/>
              </a:lnSpc>
              <a:spcBef>
                <a:spcPct val="0"/>
              </a:spcBef>
            </a:pPr>
            <a:r>
              <a:rPr lang="en-US" sz="6000">
                <a:solidFill>
                  <a:srgbClr val="000000"/>
                </a:solidFill>
                <a:latin typeface="Horizon"/>
                <a:ea typeface="Horizon"/>
                <a:cs typeface="Horizon"/>
                <a:sym typeface="Horizon"/>
              </a:rPr>
              <a:t>Spazi</a:t>
            </a:r>
            <a:r>
              <a:rPr lang="en-US" b="true" sz="6000" strike="noStrike" u="none">
                <a:solidFill>
                  <a:srgbClr val="000000"/>
                </a:solidFill>
                <a:latin typeface="Horizon"/>
                <a:ea typeface="Horizon"/>
                <a:cs typeface="Horizon"/>
                <a:sym typeface="Horizon"/>
              </a:rPr>
              <a:t>o delle Feature (t-SNE)</a:t>
            </a:r>
          </a:p>
          <a:p>
            <a:pPr algn="l" marL="0" indent="0" lvl="0">
              <a:lnSpc>
                <a:spcPts val="6000"/>
              </a:lnSpc>
              <a:spcBef>
                <a:spcPct val="0"/>
              </a:spcBef>
            </a:pP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6838604"/>
            <a:ext cx="4570929" cy="8870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279"/>
              </a:lnSpc>
            </a:pPr>
            <a:r>
              <a:rPr lang="en-US" sz="5199" b="true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BASELINE (B1)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8422031" y="6838604"/>
            <a:ext cx="2018228" cy="8870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279"/>
              </a:lnSpc>
            </a:pPr>
            <a:r>
              <a:rPr lang="en-US" sz="5199" b="true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DANN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4513969" y="6838604"/>
            <a:ext cx="1734145" cy="8870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279"/>
              </a:lnSpc>
            </a:pPr>
            <a:r>
              <a:rPr lang="en-US" sz="5199" b="true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MMD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028700" y="8054947"/>
            <a:ext cx="4475720" cy="11804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759"/>
              </a:lnSpc>
            </a:pPr>
            <a:r>
              <a:rPr lang="en-US" sz="3399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domini parzialmente separati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6892465" y="8054947"/>
            <a:ext cx="5077361" cy="11804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759"/>
              </a:lnSpc>
            </a:pPr>
            <a:r>
              <a:rPr lang="en-US" sz="3399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l</a:t>
            </a:r>
            <a:r>
              <a:rPr lang="en-US" sz="3399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ieve aumento della sovrapposizione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13143182" y="8054947"/>
            <a:ext cx="4475720" cy="11804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759"/>
              </a:lnSpc>
            </a:pPr>
            <a:r>
              <a:rPr lang="en-US" sz="3399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sov</a:t>
            </a:r>
            <a:r>
              <a:rPr lang="en-US" sz="3399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rapposizione più uniforme</a:t>
            </a:r>
          </a:p>
        </p:txBody>
      </p:sp>
    </p:spTree>
  </p:cSld>
  <p:clrMapOvr>
    <a:masterClrMapping/>
  </p:clrMapOvr>
</p:sld>
</file>

<file path=ppt/slides/slide10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2495737" y="819437"/>
            <a:ext cx="13111300" cy="8763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6000"/>
              </a:lnSpc>
              <a:spcBef>
                <a:spcPct val="0"/>
              </a:spcBef>
            </a:pPr>
            <a:r>
              <a:rPr lang="en-US" sz="6000">
                <a:solidFill>
                  <a:srgbClr val="000000"/>
                </a:solidFill>
                <a:latin typeface="Horizon"/>
                <a:ea typeface="Horizon"/>
                <a:cs typeface="Horizon"/>
                <a:sym typeface="Horizon"/>
              </a:rPr>
              <a:t>ANALISI PER CLASSE</a:t>
            </a:r>
          </a:p>
        </p:txBody>
      </p:sp>
      <p:grpSp>
        <p:nvGrpSpPr>
          <p:cNvPr name="Group 3" id="3"/>
          <p:cNvGrpSpPr/>
          <p:nvPr/>
        </p:nvGrpSpPr>
        <p:grpSpPr>
          <a:xfrm rot="0">
            <a:off x="871127" y="2207132"/>
            <a:ext cx="16360520" cy="2040181"/>
            <a:chOff x="0" y="0"/>
            <a:chExt cx="2853741" cy="355866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2853741" cy="355866"/>
            </a:xfrm>
            <a:custGeom>
              <a:avLst/>
              <a:gdLst/>
              <a:ahLst/>
              <a:cxnLst/>
              <a:rect r="r" b="b" t="t" l="l"/>
              <a:pathLst>
                <a:path h="355866" w="2853741">
                  <a:moveTo>
                    <a:pt x="0" y="0"/>
                  </a:moveTo>
                  <a:lnTo>
                    <a:pt x="2853741" y="0"/>
                  </a:lnTo>
                  <a:lnTo>
                    <a:pt x="2853741" y="355866"/>
                  </a:lnTo>
                  <a:lnTo>
                    <a:pt x="0" y="355866"/>
                  </a:lnTo>
                  <a:close/>
                </a:path>
              </a:pathLst>
            </a:custGeom>
            <a:gradFill rotWithShape="true">
              <a:gsLst>
                <a:gs pos="0">
                  <a:srgbClr val="5170FF">
                    <a:alpha val="44000"/>
                  </a:srgbClr>
                </a:gs>
                <a:gs pos="100000">
                  <a:srgbClr val="FF66C4">
                    <a:alpha val="44000"/>
                  </a:srgbClr>
                </a:gs>
              </a:gsLst>
              <a:lin ang="0"/>
            </a:gradFill>
            <a:ln cap="sq">
              <a:noFill/>
              <a:prstDash val="solid"/>
              <a:miter/>
            </a:ln>
          </p:spPr>
        </p:sp>
        <p:sp>
          <p:nvSpPr>
            <p:cNvPr name="TextBox 5" id="5"/>
            <p:cNvSpPr txBox="true"/>
            <p:nvPr/>
          </p:nvSpPr>
          <p:spPr>
            <a:xfrm>
              <a:off x="0" y="-9525"/>
              <a:ext cx="2853741" cy="36539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337"/>
                </a:lnSpc>
                <a:spcBef>
                  <a:spcPct val="0"/>
                </a:spcBef>
              </a:pPr>
            </a:p>
          </p:txBody>
        </p:sp>
      </p:grpSp>
      <p:sp>
        <p:nvSpPr>
          <p:cNvPr name="TextBox 6" id="6"/>
          <p:cNvSpPr txBox="true"/>
          <p:nvPr/>
        </p:nvSpPr>
        <p:spPr>
          <a:xfrm rot="0">
            <a:off x="1028700" y="2421886"/>
            <a:ext cx="15826088" cy="154018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052"/>
              </a:lnSpc>
            </a:pPr>
            <a:r>
              <a:rPr lang="en-US" sz="2774" b="true">
                <a:solidFill>
                  <a:srgbClr val="000000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Az</a:t>
            </a:r>
            <a:r>
              <a:rPr lang="en-US" sz="2774" b="true">
                <a:solidFill>
                  <a:srgbClr val="000000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ioni Resistent</a:t>
            </a:r>
            <a:r>
              <a:rPr lang="en-US" sz="2774" b="true">
                <a:solidFill>
                  <a:srgbClr val="000000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i al Transfer (+Gap) </a:t>
            </a:r>
          </a:p>
          <a:p>
            <a:pPr algn="ctr">
              <a:lnSpc>
                <a:spcPts val="3052"/>
              </a:lnSpc>
            </a:pPr>
            <a:r>
              <a:rPr lang="en-US" sz="2774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Azioni che dipendono da specifici orientamenti (es. "Guardare fuori") o manipolazioni fini ("Lavare i piatti"). La telecamera indossata dal soggetto vede dettagli cruciali invariabilmente occlusi o fuori campo dalla telecamera fissa.</a:t>
            </a:r>
          </a:p>
        </p:txBody>
      </p:sp>
      <p:grpSp>
        <p:nvGrpSpPr>
          <p:cNvPr name="Group 7" id="7"/>
          <p:cNvGrpSpPr/>
          <p:nvPr/>
        </p:nvGrpSpPr>
        <p:grpSpPr>
          <a:xfrm rot="0">
            <a:off x="871127" y="4947348"/>
            <a:ext cx="16360520" cy="2040181"/>
            <a:chOff x="0" y="0"/>
            <a:chExt cx="2853741" cy="355866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2853741" cy="355866"/>
            </a:xfrm>
            <a:custGeom>
              <a:avLst/>
              <a:gdLst/>
              <a:ahLst/>
              <a:cxnLst/>
              <a:rect r="r" b="b" t="t" l="l"/>
              <a:pathLst>
                <a:path h="355866" w="2853741">
                  <a:moveTo>
                    <a:pt x="0" y="0"/>
                  </a:moveTo>
                  <a:lnTo>
                    <a:pt x="2853741" y="0"/>
                  </a:lnTo>
                  <a:lnTo>
                    <a:pt x="2853741" y="355866"/>
                  </a:lnTo>
                  <a:lnTo>
                    <a:pt x="0" y="355866"/>
                  </a:lnTo>
                  <a:close/>
                </a:path>
              </a:pathLst>
            </a:custGeom>
            <a:gradFill rotWithShape="true">
              <a:gsLst>
                <a:gs pos="0">
                  <a:srgbClr val="5170FF">
                    <a:alpha val="44000"/>
                  </a:srgbClr>
                </a:gs>
                <a:gs pos="100000">
                  <a:srgbClr val="FF66C4">
                    <a:alpha val="44000"/>
                  </a:srgbClr>
                </a:gs>
              </a:gsLst>
              <a:lin ang="0"/>
            </a:gradFill>
            <a:ln cap="sq">
              <a:noFill/>
              <a:prstDash val="solid"/>
              <a:miter/>
            </a:ln>
          </p:spPr>
        </p:sp>
        <p:sp>
          <p:nvSpPr>
            <p:cNvPr name="TextBox 9" id="9"/>
            <p:cNvSpPr txBox="true"/>
            <p:nvPr/>
          </p:nvSpPr>
          <p:spPr>
            <a:xfrm>
              <a:off x="0" y="-9525"/>
              <a:ext cx="2853741" cy="36539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337"/>
                </a:lnSpc>
                <a:spcBef>
                  <a:spcPct val="0"/>
                </a:spcBef>
              </a:pPr>
            </a:p>
          </p:txBody>
        </p:sp>
      </p:grpSp>
      <p:sp>
        <p:nvSpPr>
          <p:cNvPr name="TextBox 10" id="10"/>
          <p:cNvSpPr txBox="true"/>
          <p:nvPr/>
        </p:nvSpPr>
        <p:spPr>
          <a:xfrm rot="0">
            <a:off x="1952925" y="4971213"/>
            <a:ext cx="14382150" cy="230212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046"/>
              </a:lnSpc>
            </a:pPr>
            <a:r>
              <a:rPr lang="en-US" sz="2769" b="true">
                <a:solidFill>
                  <a:srgbClr val="000000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Azioni</a:t>
            </a:r>
            <a:r>
              <a:rPr lang="en-US" sz="2769" b="true">
                <a:solidFill>
                  <a:srgbClr val="000000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 Favorevoli al Transf</a:t>
            </a:r>
            <a:r>
              <a:rPr lang="en-US" sz="2769" b="true">
                <a:solidFill>
                  <a:srgbClr val="000000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e</a:t>
            </a:r>
            <a:r>
              <a:rPr lang="en-US" sz="2769" b="true">
                <a:solidFill>
                  <a:srgbClr val="000000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r (-Gap)</a:t>
            </a:r>
          </a:p>
          <a:p>
            <a:pPr algn="ctr">
              <a:lnSpc>
                <a:spcPts val="3046"/>
              </a:lnSpc>
            </a:pPr>
            <a:r>
              <a:rPr lang="en-US" sz="2769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Azioni localizzate a c</a:t>
            </a:r>
            <a:r>
              <a:rPr lang="en-US" sz="2769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ampo ampio (es. "Aprire il frigo"). Sorprendentemente, la vista in terza persona le modella meglio poiché inquadra l'intero corpo in relazione all'oggetto, mentre la head-cam si ritrova eccessivamente zoomata in fase di interazione.</a:t>
            </a:r>
          </a:p>
          <a:p>
            <a:pPr algn="ctr">
              <a:lnSpc>
                <a:spcPts val="3046"/>
              </a:lnSpc>
            </a:pPr>
          </a:p>
        </p:txBody>
      </p:sp>
      <p:grpSp>
        <p:nvGrpSpPr>
          <p:cNvPr name="Group 11" id="11"/>
          <p:cNvGrpSpPr/>
          <p:nvPr/>
        </p:nvGrpSpPr>
        <p:grpSpPr>
          <a:xfrm rot="0">
            <a:off x="963740" y="7687564"/>
            <a:ext cx="16360520" cy="2040181"/>
            <a:chOff x="0" y="0"/>
            <a:chExt cx="2853741" cy="355866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2853741" cy="355866"/>
            </a:xfrm>
            <a:custGeom>
              <a:avLst/>
              <a:gdLst/>
              <a:ahLst/>
              <a:cxnLst/>
              <a:rect r="r" b="b" t="t" l="l"/>
              <a:pathLst>
                <a:path h="355866" w="2853741">
                  <a:moveTo>
                    <a:pt x="0" y="0"/>
                  </a:moveTo>
                  <a:lnTo>
                    <a:pt x="2853741" y="0"/>
                  </a:lnTo>
                  <a:lnTo>
                    <a:pt x="2853741" y="355866"/>
                  </a:lnTo>
                  <a:lnTo>
                    <a:pt x="0" y="355866"/>
                  </a:lnTo>
                  <a:close/>
                </a:path>
              </a:pathLst>
            </a:custGeom>
            <a:gradFill rotWithShape="true">
              <a:gsLst>
                <a:gs pos="0">
                  <a:srgbClr val="5170FF">
                    <a:alpha val="44000"/>
                  </a:srgbClr>
                </a:gs>
                <a:gs pos="100000">
                  <a:srgbClr val="FF66C4">
                    <a:alpha val="44000"/>
                  </a:srgbClr>
                </a:gs>
              </a:gsLst>
              <a:lin ang="0"/>
            </a:gradFill>
            <a:ln cap="sq">
              <a:noFill/>
              <a:prstDash val="solid"/>
              <a:miter/>
            </a:ln>
          </p:spPr>
        </p:sp>
        <p:sp>
          <p:nvSpPr>
            <p:cNvPr name="TextBox 13" id="13"/>
            <p:cNvSpPr txBox="true"/>
            <p:nvPr/>
          </p:nvSpPr>
          <p:spPr>
            <a:xfrm>
              <a:off x="0" y="-9525"/>
              <a:ext cx="2853741" cy="36539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337"/>
                </a:lnSpc>
                <a:spcBef>
                  <a:spcPct val="0"/>
                </a:spcBef>
              </a:pPr>
            </a:p>
          </p:txBody>
        </p:sp>
      </p:grpSp>
      <p:sp>
        <p:nvSpPr>
          <p:cNvPr name="TextBox 14" id="14"/>
          <p:cNvSpPr txBox="true"/>
          <p:nvPr/>
        </p:nvSpPr>
        <p:spPr>
          <a:xfrm rot="0">
            <a:off x="3240384" y="7706614"/>
            <a:ext cx="12366653" cy="192112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046"/>
              </a:lnSpc>
            </a:pPr>
            <a:r>
              <a:rPr lang="en-US" sz="2769" b="true">
                <a:solidFill>
                  <a:srgbClr val="000000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Implicaz</a:t>
            </a:r>
            <a:r>
              <a:rPr lang="en-US" sz="2769" b="true">
                <a:solidFill>
                  <a:srgbClr val="000000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ione d</a:t>
            </a:r>
            <a:r>
              <a:rPr lang="en-US" sz="2769" b="true">
                <a:solidFill>
                  <a:srgbClr val="000000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i Design</a:t>
            </a:r>
          </a:p>
          <a:p>
            <a:pPr algn="ctr">
              <a:lnSpc>
                <a:spcPts val="3046"/>
              </a:lnSpc>
            </a:pPr>
            <a:r>
              <a:rPr lang="en-US" sz="2769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Un metodo DA efficace nel dominio Ego-Exo non può applicare un correttivo globale uniforme. Deve attivamente mitigare la penalizzazione sulle classi resistenti senza degradare le performance naturali sulle azioni a campo ampio.</a:t>
            </a:r>
          </a:p>
        </p:txBody>
      </p:sp>
    </p:spTree>
  </p:cSld>
  <p:clrMapOvr>
    <a:masterClrMapping/>
  </p:clrMapOvr>
</p:sld>
</file>

<file path=ppt/slides/slide1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5723736">
            <a:off x="12178935" y="-3165479"/>
            <a:ext cx="7378262" cy="8229600"/>
          </a:xfrm>
          <a:custGeom>
            <a:avLst/>
            <a:gdLst/>
            <a:ahLst/>
            <a:cxnLst/>
            <a:rect r="r" b="b" t="t" l="l"/>
            <a:pathLst>
              <a:path h="8229600" w="7378262">
                <a:moveTo>
                  <a:pt x="0" y="0"/>
                </a:moveTo>
                <a:lnTo>
                  <a:pt x="7378262" y="0"/>
                </a:lnTo>
                <a:lnTo>
                  <a:pt x="7378262" y="8229600"/>
                </a:lnTo>
                <a:lnTo>
                  <a:pt x="0" y="82296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graphicFrame>
        <p:nvGraphicFramePr>
          <p:cNvPr name="Object 3" id="3"/>
          <p:cNvGraphicFramePr/>
          <p:nvPr/>
        </p:nvGraphicFramePr>
        <p:xfrm>
          <a:off x="1028700" y="2473571"/>
          <a:ext cx="7586157" cy="4274588"/>
        </p:xfrm>
        <a:graphic>
          <a:graphicData uri="http://schemas.openxmlformats.org/presentationml/2006/ole">
            <p:oleObj imgW="9105900" imgH="5791200" r:id="rId4" progId="Excel.Sheet.12" name="Worksheet">
              <p:embed/>
              <p:pic>
                <p:nvPicPr>
                  <p:cNvPr name="" id="0"/>
                  <p:cNvPicPr/>
                  <p:nvPr/>
                </p:nvPicPr>
                <p:blipFill>
                  <a:blip r:embed="rId3"/>
                  <a:stretch>
                    <a:fillRect/>
                  </a:stretch>
                </p:blipFill>
                <p:spPr>
                  <a:xfrm>
                    <a:off x="1270000" y="1270000"/>
                    <a:ext cx="1270000" cy="1270000"/>
                  </a:xfrm>
                  <a:prstGeom prst="rect"/>
                </p:spPr>
              </p:pic>
            </p:oleObj>
          </a:graphicData>
        </a:graphic>
      </p:graphicFrame>
      <p:sp>
        <p:nvSpPr>
          <p:cNvPr name="TextBox 4" id="4"/>
          <p:cNvSpPr txBox="true"/>
          <p:nvPr/>
        </p:nvSpPr>
        <p:spPr>
          <a:xfrm rot="0">
            <a:off x="246567" y="1066800"/>
            <a:ext cx="15878847" cy="8763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6000"/>
              </a:lnSpc>
              <a:spcBef>
                <a:spcPct val="0"/>
              </a:spcBef>
            </a:pPr>
            <a:r>
              <a:rPr lang="en-US" sz="6000">
                <a:solidFill>
                  <a:srgbClr val="000000"/>
                </a:solidFill>
                <a:latin typeface="Horizon"/>
                <a:ea typeface="Horizon"/>
                <a:cs typeface="Horizon"/>
                <a:sym typeface="Horizon"/>
              </a:rPr>
              <a:t>Trade-off: dann vs mmd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743265" y="7718171"/>
            <a:ext cx="14382150" cy="154012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046"/>
              </a:lnSpc>
            </a:pPr>
            <a:r>
              <a:rPr lang="en-US" sz="2769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Mentre i</a:t>
            </a:r>
            <a:r>
              <a:rPr lang="en-US" sz="2769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 risultati aggregati sul targ</a:t>
            </a:r>
            <a:r>
              <a:rPr lang="en-US" sz="2769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et</a:t>
            </a:r>
            <a:r>
              <a:rPr lang="en-US" sz="2769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 sono equivalenti, i </a:t>
            </a:r>
            <a:r>
              <a:rPr lang="en-US" sz="2769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meccanismi divergono nettamente: </a:t>
            </a:r>
            <a:r>
              <a:rPr lang="en-US" sz="2769" b="true">
                <a:solidFill>
                  <a:srgbClr val="000000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DANN </a:t>
            </a:r>
            <a:r>
              <a:rPr lang="en-US" sz="2769" i="true">
                <a:solidFill>
                  <a:srgbClr val="000000"/>
                </a:solidFill>
                <a:latin typeface="Montserrat Italics"/>
                <a:ea typeface="Montserrat Italics"/>
                <a:cs typeface="Montserrat Italics"/>
                <a:sym typeface="Montserrat Italics"/>
              </a:rPr>
              <a:t>sacrifica </a:t>
            </a:r>
            <a:r>
              <a:rPr lang="en-US" sz="2769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l'accuratezza sul sorgente per confondere il discriminatore, mentre </a:t>
            </a:r>
            <a:r>
              <a:rPr lang="en-US" sz="2769" b="true">
                <a:solidFill>
                  <a:srgbClr val="000000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MMD </a:t>
            </a:r>
            <a:r>
              <a:rPr lang="en-US" sz="2769" i="true">
                <a:solidFill>
                  <a:srgbClr val="000000"/>
                </a:solidFill>
                <a:latin typeface="Montserrat Italics"/>
                <a:ea typeface="Montserrat Italics"/>
                <a:cs typeface="Montserrat Italics"/>
                <a:sym typeface="Montserrat Italics"/>
              </a:rPr>
              <a:t>regolarizza </a:t>
            </a:r>
            <a:r>
              <a:rPr lang="en-US" sz="2769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senza antagonizzare il classificatore, preservando così le performance sul dominio di origine.</a:t>
            </a:r>
          </a:p>
        </p:txBody>
      </p:sp>
      <p:grpSp>
        <p:nvGrpSpPr>
          <p:cNvPr name="Group 6" id="6"/>
          <p:cNvGrpSpPr/>
          <p:nvPr/>
        </p:nvGrpSpPr>
        <p:grpSpPr>
          <a:xfrm rot="0">
            <a:off x="8147891" y="5554380"/>
            <a:ext cx="208848" cy="309193"/>
            <a:chOff x="0" y="0"/>
            <a:chExt cx="549015" cy="81280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549015" cy="812800"/>
            </a:xfrm>
            <a:custGeom>
              <a:avLst/>
              <a:gdLst/>
              <a:ahLst/>
              <a:cxnLst/>
              <a:rect r="r" b="b" t="t" l="l"/>
              <a:pathLst>
                <a:path h="812800" w="549015">
                  <a:moveTo>
                    <a:pt x="274508" y="812800"/>
                  </a:moveTo>
                  <a:lnTo>
                    <a:pt x="0" y="406400"/>
                  </a:lnTo>
                  <a:lnTo>
                    <a:pt x="203200" y="406400"/>
                  </a:lnTo>
                  <a:lnTo>
                    <a:pt x="203200" y="0"/>
                  </a:lnTo>
                  <a:lnTo>
                    <a:pt x="345815" y="0"/>
                  </a:lnTo>
                  <a:lnTo>
                    <a:pt x="345815" y="406400"/>
                  </a:lnTo>
                  <a:lnTo>
                    <a:pt x="549015" y="406400"/>
                  </a:lnTo>
                  <a:lnTo>
                    <a:pt x="274508" y="812800"/>
                  </a:lnTo>
                  <a:close/>
                </a:path>
              </a:pathLst>
            </a:custGeom>
            <a:solidFill>
              <a:srgbClr val="7A0000"/>
            </a:solidFill>
          </p:spPr>
        </p:sp>
        <p:sp>
          <p:nvSpPr>
            <p:cNvPr name="TextBox 8" id="8"/>
            <p:cNvSpPr txBox="true"/>
            <p:nvPr/>
          </p:nvSpPr>
          <p:spPr>
            <a:xfrm>
              <a:off x="203200" y="-9525"/>
              <a:ext cx="142615" cy="7207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337"/>
                </a:lnSpc>
              </a:pPr>
            </a:p>
          </p:txBody>
        </p:sp>
      </p:grpSp>
    </p:spTree>
  </p:cSld>
  <p:clrMapOvr>
    <a:masterClrMapping/>
  </p:clrMapOvr>
</p:sld>
</file>

<file path=ppt/slides/slide1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7866614">
            <a:off x="11118993" y="1715052"/>
            <a:ext cx="14338015" cy="10351106"/>
          </a:xfrm>
          <a:custGeom>
            <a:avLst/>
            <a:gdLst/>
            <a:ahLst/>
            <a:cxnLst/>
            <a:rect r="r" b="b" t="t" l="l"/>
            <a:pathLst>
              <a:path h="10351106" w="14338015">
                <a:moveTo>
                  <a:pt x="0" y="0"/>
                </a:moveTo>
                <a:lnTo>
                  <a:pt x="14338014" y="0"/>
                </a:lnTo>
                <a:lnTo>
                  <a:pt x="14338014" y="10351106"/>
                </a:lnTo>
                <a:lnTo>
                  <a:pt x="0" y="10351106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390431" y="783096"/>
            <a:ext cx="15878847" cy="16383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6000"/>
              </a:lnSpc>
              <a:spcBef>
                <a:spcPct val="0"/>
              </a:spcBef>
            </a:pPr>
            <a:r>
              <a:rPr lang="en-US" sz="6000">
                <a:solidFill>
                  <a:srgbClr val="000000"/>
                </a:solidFill>
                <a:latin typeface="Horizon"/>
                <a:ea typeface="Horizon"/>
                <a:cs typeface="Horizon"/>
                <a:sym typeface="Horizon"/>
              </a:rPr>
              <a:t>CONCLUSIONI E LAVORI FUTURI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-1243933" y="2724262"/>
            <a:ext cx="7115461" cy="51434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200"/>
              </a:lnSpc>
            </a:pPr>
            <a:r>
              <a:rPr lang="en-US" sz="3000" b="true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Cosa abbiamo fatto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-1898635" y="5008895"/>
            <a:ext cx="8708568" cy="51434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200"/>
              </a:lnSpc>
            </a:pPr>
            <a:r>
              <a:rPr lang="en-US" sz="3000" b="true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Cosa abbiamo trovato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-655065" y="7314551"/>
            <a:ext cx="4845829" cy="51434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200"/>
              </a:lnSpc>
            </a:pPr>
            <a:r>
              <a:rPr lang="en-US" sz="3000" b="true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Lavoro futuro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390431" y="3417979"/>
            <a:ext cx="10962193" cy="61908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485035" indent="-242518" lvl="1">
              <a:lnSpc>
                <a:spcPts val="2471"/>
              </a:lnSpc>
              <a:spcBef>
                <a:spcPct val="0"/>
              </a:spcBef>
              <a:buFont typeface="Arial"/>
              <a:buChar char="•"/>
            </a:pPr>
            <a:r>
              <a:rPr lang="en-US" sz="2246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Trasferimento del riconoscimento di azioni terza → prima persona, senza etichette sul target (UDA).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390431" y="4242012"/>
            <a:ext cx="10962193" cy="61908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485035" indent="-242518" lvl="1">
              <a:lnSpc>
                <a:spcPts val="2471"/>
              </a:lnSpc>
              <a:spcBef>
                <a:spcPct val="0"/>
              </a:spcBef>
              <a:buFont typeface="Arial"/>
              <a:buChar char="•"/>
            </a:pPr>
            <a:r>
              <a:rPr lang="en-US" sz="2246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Confronto tra due strade: DANN (avversariale) e MMD (allineamento statistico).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390431" y="6237576"/>
            <a:ext cx="10962193" cy="31428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485035" indent="-242518" lvl="1">
              <a:lnSpc>
                <a:spcPts val="2471"/>
              </a:lnSpc>
              <a:spcBef>
                <a:spcPct val="0"/>
              </a:spcBef>
              <a:buFont typeface="Arial"/>
              <a:buChar char="•"/>
            </a:pPr>
            <a:r>
              <a:rPr lang="en-US" sz="2246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Meccanismo DANN verificato: discriminatore confuso (≈57,8%, loss → ln 2).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390431" y="5723269"/>
            <a:ext cx="12839005" cy="31428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485035" indent="-242518" lvl="1">
              <a:lnSpc>
                <a:spcPts val="2471"/>
              </a:lnSpc>
              <a:spcBef>
                <a:spcPct val="0"/>
              </a:spcBef>
              <a:buFont typeface="Arial"/>
              <a:buChar char="•"/>
            </a:pPr>
            <a:r>
              <a:rPr lang="en-US" sz="2246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Entrambi recuperano ~⅓ del divario verso l'oracolo supervisionato.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390431" y="6742989"/>
            <a:ext cx="10962193" cy="31428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485035" indent="-242518" lvl="1">
              <a:lnSpc>
                <a:spcPts val="2471"/>
              </a:lnSpc>
              <a:spcBef>
                <a:spcPct val="0"/>
              </a:spcBef>
              <a:buFont typeface="Arial"/>
              <a:buChar char="•"/>
            </a:pPr>
            <a:r>
              <a:rPr lang="en-US" sz="2246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Il divario non è uniforme: dipende dal tipo di azione.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390431" y="8019400"/>
            <a:ext cx="12402537" cy="31428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485035" indent="-242518" lvl="1">
              <a:lnSpc>
                <a:spcPts val="2471"/>
              </a:lnSpc>
              <a:spcBef>
                <a:spcPct val="0"/>
              </a:spcBef>
              <a:buFont typeface="Arial"/>
              <a:buChar char="•"/>
            </a:pPr>
            <a:r>
              <a:rPr lang="en-US" sz="2246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Backbone temporale (TSM / SlowFast / MViT) per superare il limite delle feature.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390431" y="8524181"/>
            <a:ext cx="10962193" cy="31428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485035" indent="-242518" lvl="1">
              <a:lnSpc>
                <a:spcPts val="2471"/>
              </a:lnSpc>
              <a:spcBef>
                <a:spcPct val="0"/>
              </a:spcBef>
              <a:buFont typeface="Arial"/>
              <a:buChar char="•"/>
            </a:pPr>
            <a:r>
              <a:rPr lang="en-US" sz="2246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Adattamento sensibile alla classe, non una correzione globale uniforme.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390431" y="9028963"/>
            <a:ext cx="10962193" cy="31428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485035" indent="-242518" lvl="1">
              <a:lnSpc>
                <a:spcPts val="2471"/>
              </a:lnSpc>
              <a:spcBef>
                <a:spcPct val="0"/>
              </a:spcBef>
              <a:buFont typeface="Arial"/>
              <a:buChar char="•"/>
            </a:pPr>
            <a:r>
              <a:rPr lang="en-US" sz="2246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Sfruttare l'accoppiamento ego/exo nativo di Charades-Ego.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390431" y="9543269"/>
            <a:ext cx="10962193" cy="31428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485035" indent="-242518" lvl="1">
              <a:lnSpc>
                <a:spcPts val="2471"/>
              </a:lnSpc>
              <a:spcBef>
                <a:spcPct val="0"/>
              </a:spcBef>
              <a:buFont typeface="Arial"/>
              <a:buChar char="•"/>
            </a:pPr>
            <a:r>
              <a:rPr lang="en-US" sz="2246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Tornare al multi-etichetta per recuperare la co-occorrenza delle azioni.</a:t>
            </a:r>
          </a:p>
        </p:txBody>
      </p:sp>
    </p:spTree>
  </p:cSld>
  <p:clrMapOvr>
    <a:masterClrMapping/>
  </p:clrMapOvr>
</p:sld>
</file>

<file path=ppt/slides/slide1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>
            <a:off x="12722610" y="7766673"/>
            <a:ext cx="0" cy="1366616"/>
          </a:xfrm>
          <a:prstGeom prst="line">
            <a:avLst/>
          </a:prstGeom>
          <a:ln cap="flat" w="19050">
            <a:gradFill>
              <a:gsLst>
                <a:gs pos="0">
                  <a:srgbClr val="8C52FF">
                    <a:alpha val="100000"/>
                  </a:srgbClr>
                </a:gs>
                <a:gs pos="100000">
                  <a:srgbClr val="5CE1E6">
                    <a:alpha val="100000"/>
                  </a:srgbClr>
                </a:gs>
              </a:gsLst>
              <a:lin ang="0"/>
            </a:gradFill>
            <a:prstDash val="solid"/>
            <a:headEnd type="none" len="sm" w="sm"/>
            <a:tailEnd type="none" len="sm" w="sm"/>
          </a:ln>
        </p:spPr>
      </p:sp>
      <p:sp>
        <p:nvSpPr>
          <p:cNvPr name="AutoShape 3" id="3"/>
          <p:cNvSpPr/>
          <p:nvPr/>
        </p:nvSpPr>
        <p:spPr>
          <a:xfrm>
            <a:off x="6880417" y="7880544"/>
            <a:ext cx="0" cy="1366616"/>
          </a:xfrm>
          <a:prstGeom prst="line">
            <a:avLst/>
          </a:prstGeom>
          <a:ln cap="flat" w="19050">
            <a:gradFill>
              <a:gsLst>
                <a:gs pos="0">
                  <a:srgbClr val="8C52FF">
                    <a:alpha val="100000"/>
                  </a:srgbClr>
                </a:gs>
                <a:gs pos="100000">
                  <a:srgbClr val="5CE1E6">
                    <a:alpha val="100000"/>
                  </a:srgbClr>
                </a:gs>
              </a:gsLst>
              <a:lin ang="0"/>
            </a:gradFill>
            <a:prstDash val="solid"/>
            <a:headEnd type="none" len="sm" w="sm"/>
            <a:tailEnd type="none" len="sm" w="sm"/>
          </a:ln>
        </p:spPr>
      </p:sp>
      <p:sp>
        <p:nvSpPr>
          <p:cNvPr name="TextBox 4" id="4"/>
          <p:cNvSpPr txBox="true"/>
          <p:nvPr/>
        </p:nvSpPr>
        <p:spPr>
          <a:xfrm rot="0">
            <a:off x="1028700" y="3251200"/>
            <a:ext cx="12601023" cy="18923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6999"/>
              </a:lnSpc>
              <a:spcBef>
                <a:spcPct val="0"/>
              </a:spcBef>
            </a:pPr>
            <a:r>
              <a:rPr lang="en-US" b="true" sz="6999" strike="noStrike" u="none">
                <a:solidFill>
                  <a:srgbClr val="000000"/>
                </a:solidFill>
                <a:latin typeface="Horizon"/>
                <a:ea typeface="Horizon"/>
                <a:cs typeface="Horizon"/>
                <a:sym typeface="Horizon"/>
              </a:rPr>
              <a:t>Grazie PER L’ATTENZIONE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287923">
            <a:off x="6837383" y="-5693000"/>
            <a:ext cx="17227378" cy="12437036"/>
          </a:xfrm>
          <a:custGeom>
            <a:avLst/>
            <a:gdLst/>
            <a:ahLst/>
            <a:cxnLst/>
            <a:rect r="r" b="b" t="t" l="l"/>
            <a:pathLst>
              <a:path h="12437036" w="17227378">
                <a:moveTo>
                  <a:pt x="0" y="0"/>
                </a:moveTo>
                <a:lnTo>
                  <a:pt x="17227377" y="0"/>
                </a:lnTo>
                <a:lnTo>
                  <a:pt x="17227377" y="12437036"/>
                </a:lnTo>
                <a:lnTo>
                  <a:pt x="0" y="12437036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0" y="7785723"/>
            <a:ext cx="7615725" cy="77812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046"/>
              </a:lnSpc>
            </a:pPr>
            <a:r>
              <a:rPr lang="en-US" sz="2769" b="true">
                <a:solidFill>
                  <a:srgbClr val="000000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MARTINA BRANCAFORTE </a:t>
            </a:r>
          </a:p>
          <a:p>
            <a:pPr algn="ctr">
              <a:lnSpc>
                <a:spcPts val="3046"/>
              </a:lnSpc>
            </a:pPr>
            <a:r>
              <a:rPr lang="en-US" sz="2769" b="true">
                <a:solidFill>
                  <a:srgbClr val="000000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matricola 1000015074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5688069" y="7785723"/>
            <a:ext cx="7615725" cy="77812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046"/>
              </a:lnSpc>
            </a:pPr>
            <a:r>
              <a:rPr lang="en-US" sz="2769" b="true">
                <a:solidFill>
                  <a:srgbClr val="000000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MASSIMILIANO CASSIA</a:t>
            </a:r>
          </a:p>
          <a:p>
            <a:pPr algn="ctr">
              <a:lnSpc>
                <a:spcPts val="3046"/>
              </a:lnSpc>
            </a:pPr>
            <a:r>
              <a:rPr lang="en-US" sz="2769" b="true">
                <a:solidFill>
                  <a:srgbClr val="000000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matricola 1000016487</a:t>
            </a:r>
          </a:p>
        </p:txBody>
      </p:sp>
      <p:sp>
        <p:nvSpPr>
          <p:cNvPr name="AutoShape 8" id="8"/>
          <p:cNvSpPr/>
          <p:nvPr/>
        </p:nvSpPr>
        <p:spPr>
          <a:xfrm>
            <a:off x="1038225" y="7766673"/>
            <a:ext cx="0" cy="1366616"/>
          </a:xfrm>
          <a:prstGeom prst="line">
            <a:avLst/>
          </a:prstGeom>
          <a:ln cap="flat" w="19050">
            <a:gradFill>
              <a:gsLst>
                <a:gs pos="0">
                  <a:srgbClr val="8C52FF">
                    <a:alpha val="100000"/>
                  </a:srgbClr>
                </a:gs>
                <a:gs pos="100000">
                  <a:srgbClr val="5CE1E6">
                    <a:alpha val="100000"/>
                  </a:srgbClr>
                </a:gs>
              </a:gsLst>
              <a:lin ang="0"/>
            </a:gradFill>
            <a:prstDash val="solid"/>
            <a:headEnd type="none" len="sm" w="sm"/>
            <a:tailEnd type="none" len="sm" w="sm"/>
          </a:ln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DAHK90zhrYg</dc:identifier>
  <dcterms:modified xsi:type="dcterms:W3CDTF">2011-08-01T06:04:30Z</dcterms:modified>
  <cp:revision>1</cp:revision>
  <dc:title>Deep Learning: Advanced Models &amp; Methods (DL26)</dc:title>
</cp:coreProperties>
</file>