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Montserrat" charset="1" panose="00000500000000000000"/>
      <p:regular r:id="rId18"/>
    </p:embeddedFont>
    <p:embeddedFont>
      <p:font typeface="Montserrat Semi-Bold" charset="1" panose="00000700000000000000"/>
      <p:regular r:id="rId19"/>
    </p:embeddedFont>
    <p:embeddedFont>
      <p:font typeface="Horizon" charset="1" panose="02000500000000000000"/>
      <p:regular r:id="rId20"/>
    </p:embeddedFont>
    <p:embeddedFont>
      <p:font typeface="Open Sans" charset="1" panose="020B0606030504020204"/>
      <p:regular r:id="rId21"/>
    </p:embeddedFont>
    <p:embeddedFont>
      <p:font typeface="Montserrat Bold" charset="1" panose="00000800000000000000"/>
      <p:regular r:id="rId22"/>
    </p:embeddedFont>
    <p:embeddedFont>
      <p:font typeface="Open Sans Bold" charset="1" panose="020B0806030504020204"/>
      <p:regular r:id="rId23"/>
    </p:embeddedFont>
    <p:embeddedFont>
      <p:font typeface="Montserrat Italics" charset="1" panose="000005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ithub.com/Massyiwnl/dl26-projects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embeddings/oleObject1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866614">
            <a:off x="11118993" y="1715052"/>
            <a:ext cx="14338015" cy="10351106"/>
          </a:xfrm>
          <a:custGeom>
            <a:avLst/>
            <a:gdLst/>
            <a:ahLst/>
            <a:cxnLst/>
            <a:rect r="r" b="b" t="t" l="l"/>
            <a:pathLst>
              <a:path h="10351106" w="14338015">
                <a:moveTo>
                  <a:pt x="0" y="0"/>
                </a:moveTo>
                <a:lnTo>
                  <a:pt x="14338014" y="0"/>
                </a:lnTo>
                <a:lnTo>
                  <a:pt x="14338014" y="10351106"/>
                </a:lnTo>
                <a:lnTo>
                  <a:pt x="0" y="10351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89365" y="6358924"/>
            <a:ext cx="6709958" cy="2193417"/>
            <a:chOff x="0" y="0"/>
            <a:chExt cx="8946611" cy="2924556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883706"/>
              <a:ext cx="8499922" cy="1040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185"/>
                </a:lnSpc>
              </a:pPr>
              <a:r>
                <a:rPr lang="en-US" sz="26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Massimiliano Cassia (1000016487)</a:t>
              </a:r>
            </a:p>
            <a:p>
              <a:pPr algn="r">
                <a:lnSpc>
                  <a:spcPts val="3067"/>
                </a:lnSpc>
              </a:pPr>
              <a:r>
                <a:rPr lang="en-US" sz="25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Martina Brancaforte (1000015074)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0"/>
              <a:ext cx="8946611" cy="1242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01"/>
                </a:lnSpc>
              </a:pP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Gruppo Cass</a:t>
              </a: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iaBranca</a:t>
              </a:r>
            </a:p>
            <a:p>
              <a:pPr algn="l">
                <a:lnSpc>
                  <a:spcPts val="271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813389" y="2514675"/>
            <a:ext cx="15993476" cy="4076064"/>
            <a:chOff x="0" y="0"/>
            <a:chExt cx="21324635" cy="543475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747433"/>
              <a:ext cx="20140453" cy="26873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460"/>
                </a:lnSpc>
              </a:pPr>
              <a:r>
                <a:rPr lang="en-US" sz="3900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Track 7: Adattamento di Dominio Esocentrico → Egocentrico</a:t>
              </a:r>
            </a:p>
            <a:p>
              <a:pPr algn="l">
                <a:lnSpc>
                  <a:spcPts val="5460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8575"/>
              <a:ext cx="21324635" cy="26553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  <a:r>
                <a:rPr lang="en-US" sz="5000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D</a:t>
              </a:r>
              <a:r>
                <a:rPr lang="en-US" b="true" sz="5000" strike="noStrike" u="none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eep Learning: Advanced Models &amp; Methods (DL26)</a:t>
              </a:r>
            </a:p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53957" y="9426575"/>
            <a:ext cx="10394173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3" tooltip="https://github.com/Massyiwnl/dl26-projects"/>
              </a:rPr>
              <a:t>github.com/Massyiwnl</a:t>
            </a: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/dl26-projects</a:t>
            </a:r>
          </a:p>
          <a:p>
            <a:pPr algn="ctr">
              <a:lnSpc>
                <a:spcPts val="3499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729541">
            <a:off x="14579000" y="13207"/>
            <a:ext cx="11399374" cy="8229600"/>
          </a:xfrm>
          <a:custGeom>
            <a:avLst/>
            <a:gdLst/>
            <a:ahLst/>
            <a:cxnLst/>
            <a:rect r="r" b="b" t="t" l="l"/>
            <a:pathLst>
              <a:path h="8229600" w="11399374">
                <a:moveTo>
                  <a:pt x="0" y="0"/>
                </a:moveTo>
                <a:lnTo>
                  <a:pt x="11399374" y="0"/>
                </a:lnTo>
                <a:lnTo>
                  <a:pt x="113993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88592" y="1330832"/>
            <a:ext cx="12430003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Il Div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ario Ego-Exo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693771" y="2997707"/>
            <a:ext cx="10962193" cy="1686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1"/>
              </a:lnSpc>
              <a:spcBef>
                <a:spcPct val="0"/>
              </a:spcBef>
            </a:pPr>
            <a:r>
              <a:rPr lang="en-US" sz="30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modelli addestrati su viste fisse (terza persona) subiscono un drastico calo di prestazioni se applicati a telecamere indossabili (smart glasses).</a:t>
            </a:r>
          </a:p>
          <a:p>
            <a:pPr algn="l">
              <a:lnSpc>
                <a:spcPts val="3351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711470" y="4487258"/>
            <a:ext cx="10944495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Sfide Visive: Shift d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prospettiva, auto-occlusione e statistiche di sfondo diverse ostacolano il riconoscimento.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729169" y="6153150"/>
            <a:ext cx="11237801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Costo de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Dati: Raccogliere enormi dataset egocentrici è proibitivo.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693771" y="7677150"/>
            <a:ext cx="11273198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Obiettivo: Sfruttare archiv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esocentrici pre-esistenti tramite Unsupervised Domain Adaptation (UDA).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23581" y="2836373"/>
            <a:ext cx="13997235" cy="2983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Charades-Ego è il benchmark standard per il transfer cross-view, fornendo registrazioni dello stesso attore da due angolazioni.</a:t>
            </a:r>
          </a:p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Nel nostro setup UDA, le registrazioni in terza persona agiscono come Dominio Sorgente Etichettato, mentre i video in prima persona fungono da Dominio Target Non Etichettato.</a:t>
            </a:r>
          </a:p>
          <a:p>
            <a:pPr algn="l">
              <a:lnSpc>
                <a:spcPts val="3915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461708" y="5820237"/>
            <a:ext cx="9659794" cy="1525813"/>
            <a:chOff x="0" y="0"/>
            <a:chExt cx="1684944" cy="26614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42658" y="397816"/>
            <a:ext cx="15898000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Cha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rades-Ego Dataset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23581" y="1969441"/>
            <a:ext cx="8249603" cy="64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6"/>
              </a:lnSpc>
            </a:pPr>
            <a:r>
              <a:rPr lang="en-US" sz="384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Set</a:t>
            </a:r>
            <a:r>
              <a:rPr lang="en-US" b="true" sz="384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up per la Domain Adaptation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57975" y="7732487"/>
            <a:ext cx="9659794" cy="1525813"/>
            <a:chOff x="0" y="0"/>
            <a:chExt cx="1684944" cy="2661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31040" y="5552871"/>
            <a:ext cx="9283031" cy="2632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5"/>
              </a:lnSpc>
            </a:pPr>
            <a:r>
              <a:rPr lang="en-US" sz="6697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157</a:t>
            </a:r>
          </a:p>
          <a:p>
            <a:pPr algn="ctr">
              <a:lnSpc>
                <a:spcPts val="4616"/>
              </a:lnSpc>
            </a:pPr>
            <a:r>
              <a:rPr lang="en-US" sz="3297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Classi di </a:t>
            </a:r>
            <a:r>
              <a:rPr lang="en-US" b="true" sz="3297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Azione (Coda Lunga)</a:t>
            </a:r>
          </a:p>
          <a:p>
            <a:pPr algn="ctr">
              <a:lnSpc>
                <a:spcPts val="6996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6681727" y="7441300"/>
            <a:ext cx="8039089" cy="266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9"/>
              </a:lnSpc>
            </a:pPr>
            <a:r>
              <a:rPr lang="en-US" sz="6699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7.860</a:t>
            </a:r>
          </a:p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Video </a:t>
            </a:r>
            <a:r>
              <a:rPr lang="en-US" b="true" sz="33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Appaiati (87k Segmenti)</a:t>
            </a:r>
          </a:p>
          <a:p>
            <a:pPr algn="ctr">
              <a:lnSpc>
                <a:spcPts val="727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8592" y="1330832"/>
            <a:ext cx="131113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Es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trazione delle Feature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321156" y="4510736"/>
            <a:ext cx="5771642" cy="4747564"/>
            <a:chOff x="0" y="0"/>
            <a:chExt cx="1006739" cy="8281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74276" y="5356873"/>
            <a:ext cx="5718522" cy="3144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2"/>
              </a:lnSpc>
            </a:pP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 Cam</a:t>
            </a: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pionamento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video originali vengono processati estraendo frame a una frequenza fissa di 5 fps, applicando il preprocessing ImageNet standard per ridurre la dimensionalità in ingresso.</a:t>
            </a:r>
          </a:p>
          <a:p>
            <a:pPr algn="ctr">
              <a:lnSpc>
                <a:spcPts val="3052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263037" y="4510736"/>
            <a:ext cx="5771642" cy="4747564"/>
            <a:chOff x="0" y="0"/>
            <a:chExt cx="1006739" cy="82811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06128" y="4517254"/>
            <a:ext cx="5771642" cy="4747564"/>
            <a:chOff x="0" y="0"/>
            <a:chExt cx="1006739" cy="8281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316156" y="5326707"/>
            <a:ext cx="5718522" cy="3288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16"/>
              </a:lnSpc>
            </a:pP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ResN</a:t>
            </a: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et-50</a:t>
            </a:r>
          </a:p>
          <a:p>
            <a:pPr algn="ctr">
              <a:lnSpc>
                <a:spcPts val="3156"/>
              </a:lnSpc>
            </a:pP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Sfrutt</a:t>
            </a: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iamo una ResNet-50 pre-addestrata su ImageNet-1K. Rimuoviamo la testa di classificazione per ottenere embedding 2048-D per singolo frame.</a:t>
            </a:r>
          </a:p>
          <a:p>
            <a:pPr algn="ctr">
              <a:lnSpc>
                <a:spcPts val="3156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259248" y="5336232"/>
            <a:ext cx="5718522" cy="2813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7"/>
              </a:lnSpc>
            </a:pP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Aggregaz</a:t>
            </a: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Applichiamo mean-pooling su tutti i frame di un segmento annotato. Mantenere un backbone conservativo ci isola i contributi effettivi della DA.</a:t>
            </a:r>
          </a:p>
          <a:p>
            <a:pPr algn="ctr">
              <a:lnSpc>
                <a:spcPts val="3046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601789" y="6592116"/>
            <a:ext cx="13842353" cy="830541"/>
          </a:xfrm>
          <a:custGeom>
            <a:avLst/>
            <a:gdLst/>
            <a:ahLst/>
            <a:cxnLst/>
            <a:rect r="r" b="b" t="t" l="l"/>
            <a:pathLst>
              <a:path h="830541" w="13842353">
                <a:moveTo>
                  <a:pt x="0" y="0"/>
                </a:moveTo>
                <a:lnTo>
                  <a:pt x="13842353" y="0"/>
                </a:lnTo>
                <a:lnTo>
                  <a:pt x="13842353" y="830541"/>
                </a:lnTo>
                <a:lnTo>
                  <a:pt x="0" y="8305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227954" y="6595360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88592" y="1330832"/>
            <a:ext cx="16340968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Avversariale (DANN)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0" y="2500631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gannare il Discriminatore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Il modello apprende a 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ingannare un discriminatore di dominio parallelo tramite l'inversione dei gradienti nel backward pass, costringendo l'encoder a estrarre feature invarianti.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892281" y="6517746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5897880" y="5143500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2924536" y="7007387"/>
            <a:ext cx="1868205" cy="1134510"/>
          </a:xfrm>
          <a:custGeom>
            <a:avLst/>
            <a:gdLst/>
            <a:ahLst/>
            <a:cxnLst/>
            <a:rect r="r" b="b" t="t" l="l"/>
            <a:pathLst>
              <a:path h="1134510" w="1868205">
                <a:moveTo>
                  <a:pt x="0" y="0"/>
                </a:moveTo>
                <a:lnTo>
                  <a:pt x="1868206" y="0"/>
                </a:lnTo>
                <a:lnTo>
                  <a:pt x="1868206" y="1134510"/>
                </a:lnTo>
                <a:lnTo>
                  <a:pt x="0" y="1134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31158" y="8547669"/>
            <a:ext cx="17183616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ntato con warmup avversariale (5 epoche) e schedulazione del parametro </a:t>
            </a:r>
          </a:p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λ (0,5) per stabilizzare l'apprendimento iniziale.</a:t>
            </a:r>
          </a:p>
        </p:txBody>
      </p:sp>
      <p:sp>
        <p:nvSpPr>
          <p:cNvPr name="Freeform 12" id="12"/>
          <p:cNvSpPr/>
          <p:nvPr/>
        </p:nvSpPr>
        <p:spPr>
          <a:xfrm flipH="false" flipV="true" rot="0">
            <a:off x="9259076" y="5973054"/>
            <a:ext cx="1597903" cy="970363"/>
          </a:xfrm>
          <a:custGeom>
            <a:avLst/>
            <a:gdLst/>
            <a:ahLst/>
            <a:cxnLst/>
            <a:rect r="r" b="b" t="t" l="l"/>
            <a:pathLst>
              <a:path h="970363" w="1597903">
                <a:moveTo>
                  <a:pt x="0" y="970362"/>
                </a:moveTo>
                <a:lnTo>
                  <a:pt x="1597902" y="970362"/>
                </a:lnTo>
                <a:lnTo>
                  <a:pt x="1597902" y="0"/>
                </a:lnTo>
                <a:lnTo>
                  <a:pt x="0" y="0"/>
                </a:lnTo>
                <a:lnTo>
                  <a:pt x="0" y="970362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792742" y="7561507"/>
            <a:ext cx="435125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 classificazione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56978" y="5645629"/>
            <a:ext cx="6339959" cy="1091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di dominio, fatta passare dal </a:t>
            </a:r>
          </a:p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Gradient Reversal Layer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89811" y="5844329"/>
            <a:ext cx="13708378" cy="1793513"/>
          </a:xfrm>
          <a:custGeom>
            <a:avLst/>
            <a:gdLst/>
            <a:ahLst/>
            <a:cxnLst/>
            <a:rect r="r" b="b" t="t" l="l"/>
            <a:pathLst>
              <a:path h="1793513" w="13708378">
                <a:moveTo>
                  <a:pt x="0" y="0"/>
                </a:moveTo>
                <a:lnTo>
                  <a:pt x="13708378" y="0"/>
                </a:lnTo>
                <a:lnTo>
                  <a:pt x="13708378" y="1793513"/>
                </a:lnTo>
                <a:lnTo>
                  <a:pt x="0" y="1793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8332" y="637051"/>
            <a:ext cx="16340968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</a:p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Statistica (MMD)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918332" y="2204834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Alline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amento delle Distribuzioni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Invece di usare dinamiche avvers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ariali, MMD riduce direttamente la distanza statistica tra gli embedding di sorgente e target calcolando la Maximum Mean Discrepancy.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58852" y="7571167"/>
            <a:ext cx="16498402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Utilizziam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una miscela di 5 kernel RBF gaussiani a scale diverse per allineare le feature su granularità multiple simultaneamente.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69587"/>
            <a:ext cx="16931226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isultati: Top-5 Accuracy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837565" y="-10253"/>
            <a:ext cx="19963130" cy="9241479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64037" y="8025713"/>
            <a:ext cx="17959926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Rispetto alla baseline zero-shot (B1), sia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ANN che MMD migliorano significativamente la Top-5 Accuracy, chiudendo il 32% del divario con l'oracolo supervisionato (B2) senza l'ausilio di alcuna etichetta target.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45163"/>
            <a:ext cx="16230600" cy="5396674"/>
          </a:xfrm>
          <a:custGeom>
            <a:avLst/>
            <a:gdLst/>
            <a:ahLst/>
            <a:cxnLst/>
            <a:rect r="r" b="b" t="t" l="l"/>
            <a:pathLst>
              <a:path h="5396674" w="16230600">
                <a:moveTo>
                  <a:pt x="0" y="0"/>
                </a:moveTo>
                <a:lnTo>
                  <a:pt x="16230600" y="0"/>
                </a:lnTo>
                <a:lnTo>
                  <a:pt x="16230600" y="5396674"/>
                </a:lnTo>
                <a:lnTo>
                  <a:pt x="0" y="53966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62306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onvergenza del Discriminatore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0738" y="8334692"/>
            <a:ext cx="1725930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L'accuratezza del discriminatore di dom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inio crolla dall'89% e si stabilizza vicino al lancio della moneta (57,8%) una volta attivato il GRL, con la domain loss a ln 2 (0.69). La confusione di dominio è riuscita.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7185" y="2113449"/>
            <a:ext cx="17407921" cy="4820405"/>
          </a:xfrm>
          <a:custGeom>
            <a:avLst/>
            <a:gdLst/>
            <a:ahLst/>
            <a:cxnLst/>
            <a:rect r="r" b="b" t="t" l="l"/>
            <a:pathLst>
              <a:path h="4820405" w="17407921">
                <a:moveTo>
                  <a:pt x="0" y="0"/>
                </a:moveTo>
                <a:lnTo>
                  <a:pt x="17407921" y="0"/>
                </a:lnTo>
                <a:lnTo>
                  <a:pt x="17407921" y="4820405"/>
                </a:lnTo>
                <a:lnTo>
                  <a:pt x="0" y="4820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19" r="0" b="-431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478666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Spazi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 delle Feature (t-SNE)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838604"/>
            <a:ext cx="4570929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BASELINE (B1)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422031" y="6838604"/>
            <a:ext cx="201822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DANN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13969" y="6838604"/>
            <a:ext cx="173414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MMD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domini parzialmente separati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92465" y="8054947"/>
            <a:ext cx="507736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ieve aumento della sovrapposizione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43182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sov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rapposizione più uniforme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495737" y="819437"/>
            <a:ext cx="13111300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ANALISI PER CLASSE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71127" y="2207132"/>
            <a:ext cx="16360520" cy="2040181"/>
            <a:chOff x="0" y="0"/>
            <a:chExt cx="2853741" cy="35586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2421886"/>
            <a:ext cx="15826088" cy="1540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ioni Resistent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al Transfer (+Gap) 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che dipendono da specifici orientamenti (es. "Guardare fuori") o manipolazioni fini ("Lavare i piatti"). La telecamera indossata dal soggetto vede dettagli cruciali invariabilmente occlusi o fuori campo dalla telecamera fissa.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1127" y="4947348"/>
            <a:ext cx="16360520" cy="2040181"/>
            <a:chOff x="0" y="0"/>
            <a:chExt cx="2853741" cy="35586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952925" y="4971213"/>
            <a:ext cx="14382150" cy="2302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Azioni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Favorevoli al Transf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 (-Gap)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localizzate a c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ampo ampio (es. "Aprire il frigo"). Sorprendentemente, la vista in terza persona le modella meglio poiché inquadra l'intero corpo in relazione all'oggetto, mentre la head-cam si ritrova eccessivamente zoomata in fase di interazione.</a:t>
            </a:r>
          </a:p>
          <a:p>
            <a:pPr algn="ctr">
              <a:lnSpc>
                <a:spcPts val="3046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963740" y="7687564"/>
            <a:ext cx="16360520" cy="2040181"/>
            <a:chOff x="0" y="0"/>
            <a:chExt cx="2853741" cy="3558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3240384" y="7706614"/>
            <a:ext cx="12366653" cy="1921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Implicaz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 d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Design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Un metodo DA efficace nel dominio Ego-Exo non può applicare un correttivo globale uniforme. Deve attivamente mitigare la penalizzazione sulle classi resistenti senza degradare le performance naturali sulle azioni a campo ampio.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723736">
            <a:off x="12178935" y="-3165479"/>
            <a:ext cx="7378262" cy="8229600"/>
          </a:xfrm>
          <a:custGeom>
            <a:avLst/>
            <a:gdLst/>
            <a:ahLst/>
            <a:cxnLst/>
            <a:rect r="r" b="b" t="t" l="l"/>
            <a:pathLst>
              <a:path h="8229600" w="7378262">
                <a:moveTo>
                  <a:pt x="0" y="0"/>
                </a:moveTo>
                <a:lnTo>
                  <a:pt x="7378262" y="0"/>
                </a:lnTo>
                <a:lnTo>
                  <a:pt x="737826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028700" y="2473571"/>
          <a:ext cx="7586157" cy="4274588"/>
        </p:xfrm>
        <a:graphic>
          <a:graphicData uri="http://schemas.openxmlformats.org/presentationml/2006/ole">
            <p:oleObj imgW="9105900" imgH="57912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246567" y="1066800"/>
            <a:ext cx="15878847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Trade-off: dann vs mmd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43265" y="7718171"/>
            <a:ext cx="14382150" cy="154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Mentre i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risultati aggregati sul targ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et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sono equivalenti, i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meccanismi divergono nettamente: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DANN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sacrifica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l'accuratezza sul sorgente per confondere il discriminatore, mentre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MMD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regolarizza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senza antagonizzare il classificatore, preservando così le performance sul dominio di origine.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147891" y="5554380"/>
            <a:ext cx="208848" cy="309193"/>
            <a:chOff x="0" y="0"/>
            <a:chExt cx="54901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9015" cy="812800"/>
            </a:xfrm>
            <a:custGeom>
              <a:avLst/>
              <a:gdLst/>
              <a:ahLst/>
              <a:cxnLst/>
              <a:rect r="r" b="b" t="t" l="l"/>
              <a:pathLst>
                <a:path h="812800" w="549015">
                  <a:moveTo>
                    <a:pt x="274508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345815" y="0"/>
                  </a:lnTo>
                  <a:lnTo>
                    <a:pt x="345815" y="406400"/>
                  </a:lnTo>
                  <a:lnTo>
                    <a:pt x="549015" y="406400"/>
                  </a:lnTo>
                  <a:lnTo>
                    <a:pt x="274508" y="812800"/>
                  </a:lnTo>
                  <a:close/>
                </a:path>
              </a:pathLst>
            </a:custGeom>
            <a:solidFill>
              <a:srgbClr val="7A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203200" y="-9525"/>
              <a:ext cx="142615" cy="720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37"/>
                </a:lnSpc>
              </a:pP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722610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6880417" y="7880544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3251200"/>
            <a:ext cx="12601023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Grazie PER L’ATTENZIONE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287923">
            <a:off x="6837383" y="-5693000"/>
            <a:ext cx="17227378" cy="12437036"/>
          </a:xfrm>
          <a:custGeom>
            <a:avLst/>
            <a:gdLst/>
            <a:ahLst/>
            <a:cxnLst/>
            <a:rect r="r" b="b" t="t" l="l"/>
            <a:pathLst>
              <a:path h="12437036" w="17227378">
                <a:moveTo>
                  <a:pt x="0" y="0"/>
                </a:moveTo>
                <a:lnTo>
                  <a:pt x="17227377" y="0"/>
                </a:lnTo>
                <a:lnTo>
                  <a:pt x="17227377" y="12437036"/>
                </a:lnTo>
                <a:lnTo>
                  <a:pt x="0" y="1243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MARTINA BRANCAFORTE 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1000015074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88069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MASSIMILIANO CASSIA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1000016487</a:t>
            </a:r>
          </a:p>
        </p:txBody>
      </p:sp>
      <p:sp>
        <p:nvSpPr>
          <p:cNvPr name="AutoShape 8" id="8"/>
          <p:cNvSpPr/>
          <p:nvPr/>
        </p:nvSpPr>
        <p:spPr>
          <a:xfrm>
            <a:off x="1038225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DAHK90zhrYg</dc:identifier>
  <dcterms:modified xsi:type="dcterms:W3CDTF">2011-08-01T06:04:30Z</dcterms:modified>
  <cp:revision>1</cp:revision>
  <dc:title>Deep Learning: Advanced Models &amp; Methods (DL26)</dc:title>
</cp:coreProperties>
</file>