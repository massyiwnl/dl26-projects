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Horizon" panose="020B0604020202020204" charset="0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old" panose="00000800000000000000" charset="0"/>
      <p:regular r:id="rId21"/>
    </p:embeddedFont>
    <p:embeddedFont>
      <p:font typeface="Montserrat Italics" panose="020B0604020202020204" charset="0"/>
      <p:regular r:id="rId22"/>
    </p:embeddedFont>
    <p:embeddedFont>
      <p:font typeface="Montserrat Semi-Bold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Bold" panose="020B0806030504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0654" autoAdjust="0"/>
  </p:normalViewPr>
  <p:slideViewPr>
    <p:cSldViewPr>
      <p:cViewPr varScale="1">
        <p:scale>
          <a:sx n="44" d="100"/>
          <a:sy n="44" d="100"/>
        </p:scale>
        <p:origin x="1330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EF84F-13BE-4A80-B14B-3741B95E0F40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4921B-4D4D-4F7D-9D52-D5A4F5F49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15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08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"Spazio trasformato ad alta dimensionalità"</a:t>
            </a:r>
            <a:r>
              <a:rPr lang="it-IT" dirty="0"/>
              <a:t> = spazio di Hilbert a kernel riproducente (RKHS). Il kernel permette di confrontarvi le distribuzioni senza calcolarlo davvero (kernel </a:t>
            </a:r>
            <a:r>
              <a:rPr lang="it-IT" dirty="0" err="1"/>
              <a:t>trick</a:t>
            </a:r>
            <a:r>
              <a:rPr lang="it-IT" dirty="0"/>
              <a:t>). Confrontando le medie lì, confronti tutta la forma della distribuzione, non solo la media. </a:t>
            </a:r>
            <a:r>
              <a:rPr lang="it-IT" i="1" dirty="0"/>
              <a:t>"5 kernel gaussiani a scale diverse"</a:t>
            </a:r>
            <a:r>
              <a:rPr lang="it-IT" dirty="0"/>
              <a:t> = 5 larghezze (σ), da ¼ a 4× una scala di riferimento fissata con l'euristica della mediana (distanza tipica tra i punti). Cinque perché un solo kernel vede bene a una sola scala. </a:t>
            </a:r>
            <a:r>
              <a:rPr lang="it-IT" i="1" dirty="0"/>
              <a:t>"Baricentro"</a:t>
            </a:r>
            <a:r>
              <a:rPr lang="it-IT" dirty="0"/>
              <a:t> = semplificazione: tecnicamente è il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embedding</a:t>
            </a:r>
            <a:r>
              <a:rPr lang="it-IT" dirty="0"/>
              <a:t> nell'RKHS, non la media grezza. </a:t>
            </a:r>
          </a:p>
          <a:p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Il Modello è la nostra parte addestrabile — encoder più testa di classificazione — che resta la stessa nei quattro esperimenti; cambia solo </a:t>
            </a:r>
            <a:r>
              <a:rPr lang="it-IT" i="1" dirty="0"/>
              <a:t>come</a:t>
            </a:r>
            <a:r>
              <a:rPr lang="it-IT" dirty="0"/>
              <a:t> la addestriamo. La ResNet-50 sotto è un estrattore fisso, condiviso da tutti.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069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"32%"</a:t>
            </a:r>
            <a:r>
              <a:rPr lang="it-IT" dirty="0"/>
              <a:t> = gap </a:t>
            </a:r>
            <a:r>
              <a:rPr lang="it-IT" dirty="0" err="1"/>
              <a:t>closure</a:t>
            </a:r>
            <a:r>
              <a:rPr lang="it-IT" dirty="0"/>
              <a:t> su Top-5, NON guadagno assoluto. Formula a parole: (DANN − B1) / (B2 − B1). È la frazione della distanza B1→B2 recuperata.  "significativo" e "contributo isolato e attribuibile" alla DA. Perché i numeri bassi se è un buon risultato? → il limite è il </a:t>
            </a:r>
            <a:r>
              <a:rPr lang="it-IT" dirty="0" err="1"/>
              <a:t>backbone</a:t>
            </a:r>
            <a:r>
              <a:rPr lang="it-IT" dirty="0"/>
              <a:t>, non l'adattamento; lo prova il fatto che anche l'oracolo B2 arriva solo a ~7%. Il guadagno si vede su Top-1, Top-5, macro-F1; la </a:t>
            </a:r>
            <a:r>
              <a:rPr lang="it-IT" dirty="0" err="1"/>
              <a:t>balanced</a:t>
            </a:r>
            <a:r>
              <a:rPr lang="it-IT" dirty="0"/>
              <a:t> </a:t>
            </a:r>
            <a:r>
              <a:rPr lang="it-IT" dirty="0" err="1"/>
              <a:t>accuracy</a:t>
            </a:r>
            <a:r>
              <a:rPr lang="it-IT" dirty="0"/>
              <a:t> resta piatta.</a:t>
            </a:r>
          </a:p>
          <a:p>
            <a:endParaRPr lang="it-IT" dirty="0"/>
          </a:p>
          <a:p>
            <a:r>
              <a:rPr lang="it-IT" dirty="0"/>
              <a:t>Il Modello è la nostra parte addestrabile — encoder più testa di classificazione — che resta la stessa nei quattro esperimenti; cambia solo </a:t>
            </a:r>
            <a:r>
              <a:rPr lang="it-IT" i="1" dirty="0"/>
              <a:t>come</a:t>
            </a:r>
            <a:r>
              <a:rPr lang="it-IT" dirty="0"/>
              <a:t> la addestriamo. La ResNet-50 sotto è un estrattore fisso, condiviso da tutti.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4297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"Loss → ln 2 (0,69)"</a:t>
            </a:r>
            <a:r>
              <a:rPr lang="it-IT" dirty="0"/>
              <a:t> = è la cross-</a:t>
            </a:r>
            <a:r>
              <a:rPr lang="it-IT" dirty="0" err="1"/>
              <a:t>entropy</a:t>
            </a:r>
            <a:r>
              <a:rPr lang="it-IT" dirty="0"/>
              <a:t> binaria; con probabilità 0,5 a ciascuna classe vale −ln(0,5) = ln 2. È il valore dell'incertezza massima. </a:t>
            </a:r>
            <a:r>
              <a:rPr lang="it-IT" i="1" dirty="0"/>
              <a:t>"57,8% e non 50% esatto?"</a:t>
            </a:r>
            <a:r>
              <a:rPr lang="it-IT" dirty="0"/>
              <a:t> → un piccolo residuo è fisiologico, un po' di segnale resta sempre; conta che sia vicino al caso e che la </a:t>
            </a:r>
            <a:r>
              <a:rPr lang="it-IT" dirty="0" err="1"/>
              <a:t>loss</a:t>
            </a:r>
            <a:r>
              <a:rPr lang="it-IT" dirty="0"/>
              <a:t> tocchi ln 2 (lo dice anche Ganin). </a:t>
            </a:r>
            <a:r>
              <a:rPr lang="it-IT" i="1" dirty="0"/>
              <a:t>"Il crollo non è negativo?"</a:t>
            </a:r>
            <a:r>
              <a:rPr lang="it-IT" dirty="0"/>
              <a:t> → il discriminatore è uno strumento, non il fine. Il suo crollo PROVA che l'encoder ha allineato i domini. Va letto insieme all'</a:t>
            </a:r>
            <a:r>
              <a:rPr lang="it-IT" dirty="0" err="1"/>
              <a:t>accuracy</a:t>
            </a:r>
            <a:r>
              <a:rPr lang="it-IT" dirty="0"/>
              <a:t> sul target che sale (slide 7): giudice confuso + </a:t>
            </a:r>
            <a:r>
              <a:rPr lang="it-IT" dirty="0" err="1"/>
              <a:t>accuracy</a:t>
            </a:r>
            <a:r>
              <a:rPr lang="it-IT" dirty="0"/>
              <a:t> che migliora = allineamento riuscito senza perdere l'informazione utile.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85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"t-SNE"</a:t>
            </a:r>
            <a:r>
              <a:rPr lang="it-IT" dirty="0"/>
              <a:t> = riduzione di dimensionalità: dispone i vettori a 256 dimensioni su un piano 2D tenendo vicini i punti che erano vicini, così da poterli vedere. </a:t>
            </a:r>
            <a:r>
              <a:rPr lang="it-IT" i="1" dirty="0"/>
              <a:t>"Cluster"</a:t>
            </a:r>
            <a:r>
              <a:rPr lang="it-IT" dirty="0"/>
              <a:t> = gruppi/addensamenti di punti. l'effetto è sottile perché comprimendo centinaia di dimensioni in due si perde info; la prova vera è la slide 8 (discriminatore). Così la t-SNE resta solo conferma qualitativa.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945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"Divario / gap"</a:t>
            </a:r>
            <a:r>
              <a:rPr lang="it-IT" dirty="0"/>
              <a:t> = differenza di accuratezza su quella classe tra terza e prima persona. resistono al TRASFERIMENTO dalla terza alla prima persona. A colmare il gap è la TECNICA di adattamento, non una vista che aiuta l'altra. Il metodo deve dosare la correzione classe per classe. È analisi diagnostica: abbiamo individuato il problema e spiegato il perché; la correzione selettiva è lavoro futuro.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2829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i="1" dirty="0"/>
              <a:t>"Accuratezza bilanciata"</a:t>
            </a:r>
            <a:r>
              <a:rPr lang="it-IT" dirty="0"/>
              <a:t> = media dei recall per classe, così le rare pesano quanto le frequenti.</a:t>
            </a:r>
          </a:p>
          <a:p>
            <a:r>
              <a:rPr lang="it-IT" i="1" dirty="0"/>
              <a:t>"33% / 19,2%"</a:t>
            </a:r>
            <a:r>
              <a:rPr lang="it-IT" dirty="0"/>
              <a:t> = accuratezza Top-1 sul dominio sorgente a fine addestramento (source training </a:t>
            </a:r>
            <a:r>
              <a:rPr lang="it-IT" dirty="0" err="1"/>
              <a:t>accuracy</a:t>
            </a:r>
            <a:r>
              <a:rPr lang="it-IT" dirty="0"/>
              <a:t>). NON sono le metriche sul target.</a:t>
            </a:r>
          </a:p>
          <a:p>
            <a:r>
              <a:rPr lang="it-IT" dirty="0"/>
              <a:t>Perché DANN "si mette contro il classificatore"? → il gradiente invertito del GRL spinge l'encoder a confondere i domini in una direzione che non sempre conserva l'info utile alla classificazione sulla sorgente. L'MMD non ha questa spinta antagonista, quindi non perde sulla sorgente.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4921B-4D4D-4F7D-9D52-D5A4F5F498EA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975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assyiwnl/dl26-project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866614">
            <a:off x="11118993" y="1715052"/>
            <a:ext cx="14338015" cy="10351106"/>
          </a:xfrm>
          <a:custGeom>
            <a:avLst/>
            <a:gdLst/>
            <a:ahLst/>
            <a:cxnLst/>
            <a:rect l="l" t="t" r="r" b="b"/>
            <a:pathLst>
              <a:path w="14338015" h="10351106">
                <a:moveTo>
                  <a:pt x="0" y="0"/>
                </a:moveTo>
                <a:lnTo>
                  <a:pt x="14338014" y="0"/>
                </a:lnTo>
                <a:lnTo>
                  <a:pt x="14338014" y="10351106"/>
                </a:lnTo>
                <a:lnTo>
                  <a:pt x="0" y="10351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3989365" y="6358924"/>
            <a:ext cx="6709958" cy="2193417"/>
            <a:chOff x="0" y="0"/>
            <a:chExt cx="8946611" cy="2924556"/>
          </a:xfrm>
        </p:grpSpPr>
        <p:sp>
          <p:nvSpPr>
            <p:cNvPr id="4" name="TextBox 4"/>
            <p:cNvSpPr txBox="1"/>
            <p:nvPr/>
          </p:nvSpPr>
          <p:spPr>
            <a:xfrm>
              <a:off x="0" y="1883706"/>
              <a:ext cx="8499922" cy="1040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185"/>
                </a:lnSpc>
              </a:pPr>
              <a:r>
                <a:rPr lang="en-US" sz="2699">
                  <a:solidFill>
                    <a:srgbClr val="5453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Massimiliano Cassia (1000016487)</a:t>
              </a:r>
            </a:p>
            <a:p>
              <a:pPr algn="r">
                <a:lnSpc>
                  <a:spcPts val="3067"/>
                </a:lnSpc>
              </a:pPr>
              <a:r>
                <a:rPr lang="en-US" sz="2599">
                  <a:solidFill>
                    <a:srgbClr val="54536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Martina Brancaforte (1000015074)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8946611" cy="1242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01"/>
                </a:lnSpc>
              </a:pPr>
              <a:r>
                <a:rPr lang="en-US" sz="3899" b="1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Gruppo CassiaBranca</a:t>
              </a:r>
            </a:p>
            <a:p>
              <a:pPr algn="l">
                <a:lnSpc>
                  <a:spcPts val="2714"/>
                </a:lnSpc>
              </a:pPr>
              <a:endParaRPr lang="en-US" sz="38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3389" y="2514675"/>
            <a:ext cx="15993476" cy="4076064"/>
            <a:chOff x="0" y="0"/>
            <a:chExt cx="21324635" cy="5434752"/>
          </a:xfrm>
        </p:grpSpPr>
        <p:sp>
          <p:nvSpPr>
            <p:cNvPr id="7" name="TextBox 7"/>
            <p:cNvSpPr txBox="1"/>
            <p:nvPr/>
          </p:nvSpPr>
          <p:spPr>
            <a:xfrm>
              <a:off x="0" y="2747433"/>
              <a:ext cx="20140453" cy="2687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0"/>
                </a:lnSpc>
              </a:pPr>
              <a:r>
                <a:rPr lang="en-US" sz="3900" b="1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Track 7: Adattamento di Dominio Esocentrico → Egocentrico</a:t>
              </a:r>
            </a:p>
            <a:p>
              <a:pPr algn="l">
                <a:lnSpc>
                  <a:spcPts val="5460"/>
                </a:lnSpc>
              </a:pPr>
              <a:endParaRPr lang="en-US" sz="390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1324635" cy="2655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D</a:t>
              </a:r>
              <a:r>
                <a:rPr lang="en-US" sz="5000" b="1" u="none" strike="noStrike">
                  <a:solidFill>
                    <a:srgbClr val="000000"/>
                  </a:solidFill>
                  <a:latin typeface="Horizon"/>
                  <a:ea typeface="Horizon"/>
                  <a:cs typeface="Horizon"/>
                  <a:sym typeface="Horizon"/>
                </a:rPr>
                <a:t>eep Learning: Advanced Models &amp; Methods (DL26)</a:t>
              </a:r>
            </a:p>
            <a:p>
              <a:pPr marL="0" lvl="0" indent="0" algn="l">
                <a:lnSpc>
                  <a:spcPts val="5000"/>
                </a:lnSpc>
                <a:spcBef>
                  <a:spcPct val="0"/>
                </a:spcBef>
              </a:pPr>
              <a:endParaRPr lang="en-US" sz="5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553957" y="9426575"/>
            <a:ext cx="1039417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github.com/Massyiwnl/dl26-projects"/>
              </a:rPr>
              <a:t>github.com/Massyiwnl</a:t>
            </a: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/dl26-projects</a:t>
            </a:r>
          </a:p>
          <a:p>
            <a:pPr algn="ctr">
              <a:lnSpc>
                <a:spcPts val="3499"/>
              </a:lnSpc>
            </a:pPr>
            <a:endParaRPr lang="en-US" sz="2499" u="sng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29541">
            <a:off x="14579000" y="13207"/>
            <a:ext cx="11399374" cy="8229600"/>
          </a:xfrm>
          <a:custGeom>
            <a:avLst/>
            <a:gdLst/>
            <a:ahLst/>
            <a:cxnLst/>
            <a:rect l="l" t="t" r="r" b="b"/>
            <a:pathLst>
              <a:path w="11399374" h="8229600">
                <a:moveTo>
                  <a:pt x="0" y="0"/>
                </a:moveTo>
                <a:lnTo>
                  <a:pt x="11399374" y="0"/>
                </a:lnTo>
                <a:lnTo>
                  <a:pt x="113993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88592" y="1330832"/>
            <a:ext cx="12430003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Il Div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ario Ego-Exo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3771" y="2997707"/>
            <a:ext cx="10962193" cy="168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 modelli addestrati su viste fisse (terza persona) subiscono un drastico calo di prestazioni se applicati a telecamere indossabili (smart glasses).</a:t>
            </a:r>
          </a:p>
          <a:p>
            <a:pPr algn="l">
              <a:lnSpc>
                <a:spcPts val="3351"/>
              </a:lnSpc>
              <a:spcBef>
                <a:spcPct val="0"/>
              </a:spcBef>
            </a:pPr>
            <a:endParaRPr lang="en-US" sz="304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11470" y="4487258"/>
            <a:ext cx="10944495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Sfide Visive: Shift di prospettiva, auto-occlusione e statistiche di sfondo diverse ostacolano il riconoscimento.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9169" y="6153150"/>
            <a:ext cx="11237801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Costo dei Dati: Raccogliere enormi dataset egocentrici è proibitivo.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93771" y="7677150"/>
            <a:ext cx="1127319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Obiettivo: Sfruttare archivi esocentrici pre-esistenti tramite Unsupervised Domain Adaptation (UDA).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3581" y="2836373"/>
            <a:ext cx="13997235" cy="298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3">
                <a:solidFill>
                  <a:srgbClr val="545364"/>
                </a:solidFill>
                <a:latin typeface="Montserrat"/>
                <a:ea typeface="Montserrat"/>
                <a:cs typeface="Montserrat"/>
                <a:sym typeface="Montserrat"/>
              </a:rPr>
              <a:t>Charades-Ego è il benchmark standard per il transfer cross-view, fornendo registrazioni dello stesso attore da due angolazioni.</a:t>
            </a:r>
          </a:p>
          <a:p>
            <a:pPr algn="l">
              <a:lnSpc>
                <a:spcPts val="3915"/>
              </a:lnSpc>
            </a:pPr>
            <a:r>
              <a:rPr lang="en-US" sz="3263">
                <a:solidFill>
                  <a:srgbClr val="545364"/>
                </a:solidFill>
                <a:latin typeface="Montserrat"/>
                <a:ea typeface="Montserrat"/>
                <a:cs typeface="Montserrat"/>
                <a:sym typeface="Montserrat"/>
              </a:rPr>
              <a:t>Nel nostro setup UDA, le registrazioni in terza persona agiscono come Dominio Sorgente Etichettato, mentre i video in prima persona fungono da Dominio Target Non Etichettato.</a:t>
            </a:r>
          </a:p>
          <a:p>
            <a:pPr algn="l">
              <a:lnSpc>
                <a:spcPts val="3915"/>
              </a:lnSpc>
            </a:pPr>
            <a:endParaRPr lang="en-US" sz="3263">
              <a:solidFill>
                <a:srgbClr val="54536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461708" y="5820237"/>
            <a:ext cx="9659794" cy="1525813"/>
            <a:chOff x="0" y="0"/>
            <a:chExt cx="1684944" cy="266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4944" cy="266145"/>
            </a:xfrm>
            <a:custGeom>
              <a:avLst/>
              <a:gdLst/>
              <a:ahLst/>
              <a:cxnLst/>
              <a:rect l="l" t="t" r="r" b="b"/>
              <a:pathLst>
                <a:path w="1684944" h="266145">
                  <a:moveTo>
                    <a:pt x="0" y="0"/>
                  </a:moveTo>
                  <a:lnTo>
                    <a:pt x="1684944" y="0"/>
                  </a:lnTo>
                  <a:lnTo>
                    <a:pt x="1684944" y="266145"/>
                  </a:lnTo>
                  <a:lnTo>
                    <a:pt x="0" y="266145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76000"/>
                  </a:srgbClr>
                </a:gs>
                <a:gs pos="100000">
                  <a:srgbClr val="FF66C4">
                    <a:alpha val="76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684944" cy="27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2658" y="397816"/>
            <a:ext cx="15898000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Cha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rades-Ego Dataset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3581" y="1969441"/>
            <a:ext cx="8249603" cy="64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sz="384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Setup per la Domain Adaptation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657975" y="7732487"/>
            <a:ext cx="9659794" cy="1525813"/>
            <a:chOff x="0" y="0"/>
            <a:chExt cx="1684944" cy="2661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4944" cy="266145"/>
            </a:xfrm>
            <a:custGeom>
              <a:avLst/>
              <a:gdLst/>
              <a:ahLst/>
              <a:cxnLst/>
              <a:rect l="l" t="t" r="r" b="b"/>
              <a:pathLst>
                <a:path w="1684944" h="266145">
                  <a:moveTo>
                    <a:pt x="0" y="0"/>
                  </a:moveTo>
                  <a:lnTo>
                    <a:pt x="1684944" y="0"/>
                  </a:lnTo>
                  <a:lnTo>
                    <a:pt x="1684944" y="266145"/>
                  </a:lnTo>
                  <a:lnTo>
                    <a:pt x="0" y="266145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76000"/>
                  </a:srgbClr>
                </a:gs>
                <a:gs pos="100000">
                  <a:srgbClr val="FF66C4">
                    <a:alpha val="76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684944" cy="27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1040" y="5552871"/>
            <a:ext cx="9283031" cy="263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5"/>
              </a:lnSpc>
            </a:pPr>
            <a:r>
              <a:rPr lang="en-US" sz="6697" b="1">
                <a:solidFill>
                  <a:srgbClr val="581DA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157</a:t>
            </a:r>
          </a:p>
          <a:p>
            <a:pPr algn="ctr">
              <a:lnSpc>
                <a:spcPts val="4616"/>
              </a:lnSpc>
            </a:pPr>
            <a:r>
              <a:rPr lang="en-US" sz="329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Classi di Azione (Coda Lunga)</a:t>
            </a:r>
          </a:p>
          <a:p>
            <a:pPr algn="ctr">
              <a:lnSpc>
                <a:spcPts val="6996"/>
              </a:lnSpc>
            </a:pPr>
            <a:endParaRPr lang="en-US" sz="3297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81727" y="7441300"/>
            <a:ext cx="8039089" cy="266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 b="1">
                <a:solidFill>
                  <a:srgbClr val="581DA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7.860</a:t>
            </a:r>
          </a:p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Video Appaiati (87k Segmenti)</a:t>
            </a:r>
          </a:p>
          <a:p>
            <a:pPr algn="ctr">
              <a:lnSpc>
                <a:spcPts val="7279"/>
              </a:lnSpc>
            </a:pPr>
            <a:endParaRPr lang="en-US" sz="33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8592" y="1330832"/>
            <a:ext cx="13111300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Es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trazione delle Feature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21156" y="4510736"/>
            <a:ext cx="5771642" cy="4747564"/>
            <a:chOff x="0" y="0"/>
            <a:chExt cx="1006739" cy="8281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6739" cy="828111"/>
            </a:xfrm>
            <a:custGeom>
              <a:avLst/>
              <a:gdLst/>
              <a:ahLst/>
              <a:cxnLst/>
              <a:rect l="l" t="t" r="r" b="b"/>
              <a:pathLst>
                <a:path w="1006739" h="828111">
                  <a:moveTo>
                    <a:pt x="0" y="0"/>
                  </a:moveTo>
                  <a:lnTo>
                    <a:pt x="1006739" y="0"/>
                  </a:lnTo>
                  <a:lnTo>
                    <a:pt x="1006739" y="828111"/>
                  </a:lnTo>
                  <a:lnTo>
                    <a:pt x="0" y="828111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76000"/>
                  </a:srgbClr>
                </a:gs>
                <a:gs pos="100000">
                  <a:srgbClr val="FF66C4">
                    <a:alpha val="76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06739" cy="83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4276" y="5356873"/>
            <a:ext cx="5718522" cy="3144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33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Campionamento</a:t>
            </a:r>
          </a:p>
          <a:p>
            <a:pPr algn="ctr">
              <a:lnSpc>
                <a:spcPts val="3052"/>
              </a:lnSpc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 video originali vengono processati estraendo frame a una frequenza fissa di 5 fps, applicando il preprocessing ImageNet standard per ridurre la dimensionalità in ingresso.</a:t>
            </a:r>
          </a:p>
          <a:p>
            <a:pPr algn="ctr">
              <a:lnSpc>
                <a:spcPts val="3052"/>
              </a:lnSpc>
            </a:pPr>
            <a:endParaRPr lang="en-US" sz="277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263037" y="4510736"/>
            <a:ext cx="5771642" cy="4747564"/>
            <a:chOff x="0" y="0"/>
            <a:chExt cx="1006739" cy="828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6739" cy="828111"/>
            </a:xfrm>
            <a:custGeom>
              <a:avLst/>
              <a:gdLst/>
              <a:ahLst/>
              <a:cxnLst/>
              <a:rect l="l" t="t" r="r" b="b"/>
              <a:pathLst>
                <a:path w="1006739" h="828111">
                  <a:moveTo>
                    <a:pt x="0" y="0"/>
                  </a:moveTo>
                  <a:lnTo>
                    <a:pt x="1006739" y="0"/>
                  </a:lnTo>
                  <a:lnTo>
                    <a:pt x="1006739" y="828111"/>
                  </a:lnTo>
                  <a:lnTo>
                    <a:pt x="0" y="828111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76000"/>
                  </a:srgbClr>
                </a:gs>
                <a:gs pos="100000">
                  <a:srgbClr val="FF66C4">
                    <a:alpha val="76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006739" cy="83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06128" y="4517254"/>
            <a:ext cx="5771642" cy="4747564"/>
            <a:chOff x="0" y="0"/>
            <a:chExt cx="1006739" cy="8281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6739" cy="828111"/>
            </a:xfrm>
            <a:custGeom>
              <a:avLst/>
              <a:gdLst/>
              <a:ahLst/>
              <a:cxnLst/>
              <a:rect l="l" t="t" r="r" b="b"/>
              <a:pathLst>
                <a:path w="1006739" h="828111">
                  <a:moveTo>
                    <a:pt x="0" y="0"/>
                  </a:moveTo>
                  <a:lnTo>
                    <a:pt x="1006739" y="0"/>
                  </a:lnTo>
                  <a:lnTo>
                    <a:pt x="1006739" y="828111"/>
                  </a:lnTo>
                  <a:lnTo>
                    <a:pt x="0" y="828111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76000"/>
                  </a:srgbClr>
                </a:gs>
                <a:gs pos="100000">
                  <a:srgbClr val="FF66C4">
                    <a:alpha val="76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06739" cy="837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16156" y="5326707"/>
            <a:ext cx="5718522" cy="32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6"/>
              </a:lnSpc>
            </a:pPr>
            <a:r>
              <a:rPr lang="en-US" sz="34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ResNet-50</a:t>
            </a:r>
          </a:p>
          <a:p>
            <a:pPr algn="ctr">
              <a:lnSpc>
                <a:spcPts val="3156"/>
              </a:lnSpc>
            </a:pPr>
            <a:r>
              <a:rPr lang="en-US" sz="28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Sfruttiamo una ResNet-50 pre-addestrata su ImageNet-1K. Rimuoviamo la testa di classificazione per ottenere embedding 2048-D per singolo frame.</a:t>
            </a:r>
          </a:p>
          <a:p>
            <a:pPr algn="ctr">
              <a:lnSpc>
                <a:spcPts val="3156"/>
              </a:lnSpc>
            </a:pPr>
            <a:endParaRPr lang="en-US" sz="286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259248" y="5336232"/>
            <a:ext cx="5718522" cy="281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77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Aggregazione</a:t>
            </a:r>
          </a:p>
          <a:p>
            <a:pPr algn="ctr">
              <a:lnSpc>
                <a:spcPts val="3046"/>
              </a:lnSpc>
            </a:pP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Applichiamo mean-pooling su tutti i frame di un segmento annotato. Mantenere un backbone conservativo ci isola i contributi effettivi della DA.</a:t>
            </a:r>
          </a:p>
          <a:p>
            <a:pPr algn="ctr">
              <a:lnSpc>
                <a:spcPts val="3046"/>
              </a:lnSpc>
            </a:pPr>
            <a:endParaRPr lang="en-US" sz="276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86665" y="4727189"/>
            <a:ext cx="422298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88592" y="1330832"/>
            <a:ext cx="16340968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DA Avversariale (DANN)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2500631"/>
            <a:ext cx="11519416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Ingannare il Discriminatore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0453" y="3939654"/>
            <a:ext cx="12908484" cy="177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3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 modello apprende a ingannare un discriminatore di dominio parallelo tramite l'inversione dei gradienti nel backward pass, costringendo l'encoder a estrarre feature invarianti.</a:t>
            </a:r>
          </a:p>
        </p:txBody>
      </p:sp>
      <p:sp>
        <p:nvSpPr>
          <p:cNvPr id="6" name="AutoShape 6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167691" y="6650574"/>
            <a:ext cx="13449180" cy="1025500"/>
          </a:xfrm>
          <a:custGeom>
            <a:avLst/>
            <a:gdLst/>
            <a:ahLst/>
            <a:cxnLst/>
            <a:rect l="l" t="t" r="r" b="b"/>
            <a:pathLst>
              <a:path w="13449180" h="1025500">
                <a:moveTo>
                  <a:pt x="0" y="0"/>
                </a:moveTo>
                <a:lnTo>
                  <a:pt x="13449180" y="0"/>
                </a:lnTo>
                <a:lnTo>
                  <a:pt x="13449180" y="1025500"/>
                </a:lnTo>
                <a:lnTo>
                  <a:pt x="0" y="102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8513315" y="6517746"/>
            <a:ext cx="1261370" cy="979282"/>
          </a:xfrm>
          <a:custGeom>
            <a:avLst/>
            <a:gdLst/>
            <a:ahLst/>
            <a:cxnLst/>
            <a:rect l="l" t="t" r="r" b="b"/>
            <a:pathLst>
              <a:path w="1261370" h="979282">
                <a:moveTo>
                  <a:pt x="0" y="0"/>
                </a:moveTo>
                <a:lnTo>
                  <a:pt x="1261370" y="0"/>
                </a:lnTo>
                <a:lnTo>
                  <a:pt x="1261370" y="979282"/>
                </a:lnTo>
                <a:lnTo>
                  <a:pt x="0" y="979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3227954" y="6595360"/>
            <a:ext cx="1261370" cy="979282"/>
          </a:xfrm>
          <a:custGeom>
            <a:avLst/>
            <a:gdLst/>
            <a:ahLst/>
            <a:cxnLst/>
            <a:rect l="l" t="t" r="r" b="b"/>
            <a:pathLst>
              <a:path w="1261370" h="979282">
                <a:moveTo>
                  <a:pt x="0" y="0"/>
                </a:moveTo>
                <a:lnTo>
                  <a:pt x="1261370" y="0"/>
                </a:lnTo>
                <a:lnTo>
                  <a:pt x="1261370" y="979282"/>
                </a:lnTo>
                <a:lnTo>
                  <a:pt x="0" y="979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2924536" y="7007387"/>
            <a:ext cx="1868205" cy="1134510"/>
          </a:xfrm>
          <a:custGeom>
            <a:avLst/>
            <a:gdLst/>
            <a:ahLst/>
            <a:cxnLst/>
            <a:rect l="l" t="t" r="r" b="b"/>
            <a:pathLst>
              <a:path w="1868205" h="1134510">
                <a:moveTo>
                  <a:pt x="0" y="0"/>
                </a:moveTo>
                <a:lnTo>
                  <a:pt x="1868206" y="0"/>
                </a:lnTo>
                <a:lnTo>
                  <a:pt x="1868206" y="1134510"/>
                </a:lnTo>
                <a:lnTo>
                  <a:pt x="0" y="1134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flipV="1">
            <a:off x="9259076" y="5973054"/>
            <a:ext cx="1597903" cy="970363"/>
          </a:xfrm>
          <a:custGeom>
            <a:avLst/>
            <a:gdLst/>
            <a:ahLst/>
            <a:cxnLst/>
            <a:rect l="l" t="t" r="r" b="b"/>
            <a:pathLst>
              <a:path w="1597903" h="970363">
                <a:moveTo>
                  <a:pt x="0" y="970362"/>
                </a:moveTo>
                <a:lnTo>
                  <a:pt x="1597902" y="970362"/>
                </a:lnTo>
                <a:lnTo>
                  <a:pt x="1597902" y="0"/>
                </a:lnTo>
                <a:lnTo>
                  <a:pt x="0" y="0"/>
                </a:lnTo>
                <a:lnTo>
                  <a:pt x="0" y="97036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931158" y="8547669"/>
            <a:ext cx="17183616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Implementato con warmup avversariale (5 epoche) e schedulazione del parametro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λ (0,5) per stabilizzare l'apprendimento iniziale.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92742" y="7561507"/>
            <a:ext cx="43512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Loss di classificazione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56978" y="5645629"/>
            <a:ext cx="6339959" cy="109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1"/>
              </a:lnSpc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Loss di dominio, fatta passare dal </a:t>
            </a:r>
          </a:p>
          <a:p>
            <a:pPr algn="ctr">
              <a:lnSpc>
                <a:spcPts val="4411"/>
              </a:lnSpc>
            </a:pPr>
            <a:r>
              <a:rPr lang="en-US" sz="31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Gradient Reversal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86665" y="4727189"/>
            <a:ext cx="422298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2289811" y="5844329"/>
            <a:ext cx="13708378" cy="1793513"/>
          </a:xfrm>
          <a:custGeom>
            <a:avLst/>
            <a:gdLst/>
            <a:ahLst/>
            <a:cxnLst/>
            <a:rect l="l" t="t" r="r" b="b"/>
            <a:pathLst>
              <a:path w="13708378" h="1793513">
                <a:moveTo>
                  <a:pt x="0" y="0"/>
                </a:moveTo>
                <a:lnTo>
                  <a:pt x="13708378" y="0"/>
                </a:lnTo>
                <a:lnTo>
                  <a:pt x="13708378" y="1793513"/>
                </a:lnTo>
                <a:lnTo>
                  <a:pt x="0" y="179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918332" y="637051"/>
            <a:ext cx="16340968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endParaRPr/>
          </a:p>
          <a:p>
            <a:pPr algn="l">
              <a:lnSpc>
                <a:spcPts val="6000"/>
              </a:lnSpc>
            </a:pPr>
            <a:r>
              <a:rPr lang="en-US" sz="60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DA Statistica (MMD)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8332" y="2204834"/>
            <a:ext cx="11519416" cy="180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Allineamento delle Distribuzioni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0453" y="3939654"/>
            <a:ext cx="12908484" cy="177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33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Invece di usare dinamiche avversariali, MMD riduce direttamente la distanza statistica tra gli embedding di sorgente e target calcolando la Maximum Mean Discrepancy.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8852" y="7571167"/>
            <a:ext cx="16498402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Utilizziamo una miscela di 5 kernel RBF gaussiani a scale diverse per allineare le feature su granularità multiple simultaneamente.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9587"/>
            <a:ext cx="16931226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isultati: Top-5 Accuracy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7565" y="-10253"/>
            <a:ext cx="19963130" cy="924147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4037" y="8025713"/>
            <a:ext cx="17959926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Rispetto alla baseline zero-shot (B1), sia DANN che MMD migliorano significativamente la Top-5 Accuracy, chiudendo il 32% del divario con l'oracolo supervisionato (B2) senza l'ausilio di alcuna etichetta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45163"/>
            <a:ext cx="16230600" cy="5396674"/>
          </a:xfrm>
          <a:custGeom>
            <a:avLst/>
            <a:gdLst/>
            <a:ahLst/>
            <a:cxnLst/>
            <a:rect l="l" t="t" r="r" b="b"/>
            <a:pathLst>
              <a:path w="16230600" h="5396674">
                <a:moveTo>
                  <a:pt x="0" y="0"/>
                </a:moveTo>
                <a:lnTo>
                  <a:pt x="16230600" y="0"/>
                </a:lnTo>
                <a:lnTo>
                  <a:pt x="16230600" y="5396674"/>
                </a:lnTo>
                <a:lnTo>
                  <a:pt x="0" y="5396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593400"/>
            <a:ext cx="16230600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C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onvergenza del Discriminatore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0738" y="8334692"/>
            <a:ext cx="1725930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L'accuratezza del discriminatore di dominio crolla dall'89% e si stabilizza vicino al lancio della moneta (57,8%) una volta attivato il GRL, con la domain loss a ln 2 (0.69). La confusione di dominio è riuscita.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7185" y="2113449"/>
            <a:ext cx="17407921" cy="4820405"/>
          </a:xfrm>
          <a:custGeom>
            <a:avLst/>
            <a:gdLst/>
            <a:ahLst/>
            <a:cxnLst/>
            <a:rect l="l" t="t" r="r" b="b"/>
            <a:pathLst>
              <a:path w="17407921" h="4820405">
                <a:moveTo>
                  <a:pt x="0" y="0"/>
                </a:moveTo>
                <a:lnTo>
                  <a:pt x="17407921" y="0"/>
                </a:lnTo>
                <a:lnTo>
                  <a:pt x="17407921" y="4820405"/>
                </a:lnTo>
                <a:lnTo>
                  <a:pt x="0" y="48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19" b="-431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593400"/>
            <a:ext cx="14786662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Spazi</a:t>
            </a:r>
            <a:r>
              <a:rPr lang="en-US" sz="6000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 delle Feature (t-SNE)</a:t>
            </a:r>
          </a:p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endParaRPr lang="en-US" sz="6000" b="1" u="none" strike="noStrike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6838604"/>
            <a:ext cx="457092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BASELINE (B1)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22031" y="6838604"/>
            <a:ext cx="201822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13969" y="6838604"/>
            <a:ext cx="173414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MMD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054947"/>
            <a:ext cx="447572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domini parzialmente separati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92465" y="8054947"/>
            <a:ext cx="507736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lieve aumento della sovrapposizione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43182" y="8054947"/>
            <a:ext cx="447572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sovrapposizione più uniforme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5737" y="819437"/>
            <a:ext cx="1311130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ANALISI PER CLASSE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71127" y="2207132"/>
            <a:ext cx="16360520" cy="2040181"/>
            <a:chOff x="0" y="0"/>
            <a:chExt cx="2853741" cy="3558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53741" cy="355866"/>
            </a:xfrm>
            <a:custGeom>
              <a:avLst/>
              <a:gdLst/>
              <a:ahLst/>
              <a:cxnLst/>
              <a:rect l="l" t="t" r="r" b="b"/>
              <a:pathLst>
                <a:path w="2853741" h="355866">
                  <a:moveTo>
                    <a:pt x="0" y="0"/>
                  </a:moveTo>
                  <a:lnTo>
                    <a:pt x="2853741" y="0"/>
                  </a:lnTo>
                  <a:lnTo>
                    <a:pt x="2853741" y="355866"/>
                  </a:lnTo>
                  <a:lnTo>
                    <a:pt x="0" y="355866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44000"/>
                  </a:srgbClr>
                </a:gs>
                <a:gs pos="100000">
                  <a:srgbClr val="FF66C4">
                    <a:alpha val="4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853741" cy="365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421886"/>
            <a:ext cx="15826088" cy="1540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7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Azioni Resistenti al Transfer (+Gap) </a:t>
            </a:r>
          </a:p>
          <a:p>
            <a:pPr algn="ctr">
              <a:lnSpc>
                <a:spcPts val="3052"/>
              </a:lnSpc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Azioni che dipendono da specifici orientamenti (es. "Guardare fuori") o manipolazioni fini ("Lavare i piatti"). La telecamera indossata dal soggetto vede dettagli cruciali invariabilmente occlusi o fuori campo dalla telecamera fissa.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1127" y="4947348"/>
            <a:ext cx="16360520" cy="2040181"/>
            <a:chOff x="0" y="0"/>
            <a:chExt cx="2853741" cy="3558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53741" cy="355866"/>
            </a:xfrm>
            <a:custGeom>
              <a:avLst/>
              <a:gdLst/>
              <a:ahLst/>
              <a:cxnLst/>
              <a:rect l="l" t="t" r="r" b="b"/>
              <a:pathLst>
                <a:path w="2853741" h="355866">
                  <a:moveTo>
                    <a:pt x="0" y="0"/>
                  </a:moveTo>
                  <a:lnTo>
                    <a:pt x="2853741" y="0"/>
                  </a:lnTo>
                  <a:lnTo>
                    <a:pt x="2853741" y="355866"/>
                  </a:lnTo>
                  <a:lnTo>
                    <a:pt x="0" y="355866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44000"/>
                  </a:srgbClr>
                </a:gs>
                <a:gs pos="100000">
                  <a:srgbClr val="FF66C4">
                    <a:alpha val="4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853741" cy="365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52925" y="4971213"/>
            <a:ext cx="14382150" cy="230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Azioni Favorevoli al Transfer (-Gap)</a:t>
            </a:r>
          </a:p>
          <a:p>
            <a:pPr algn="ctr">
              <a:lnSpc>
                <a:spcPts val="3046"/>
              </a:lnSpc>
            </a:pP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Azioni localizzate a campo ampio (es. "Aprire il frigo"). Sorprendentemente, la vista in terza persona le modella meglio poiché inquadra l'intero corpo in relazione all'oggetto, mentre la head-cam si ritrova eccessivamente zoomata in fase di interazione.</a:t>
            </a:r>
          </a:p>
          <a:p>
            <a:pPr algn="ctr">
              <a:lnSpc>
                <a:spcPts val="3046"/>
              </a:lnSpc>
            </a:pPr>
            <a:endParaRPr lang="en-US" sz="276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63740" y="7687564"/>
            <a:ext cx="16360520" cy="2040181"/>
            <a:chOff x="0" y="0"/>
            <a:chExt cx="2853741" cy="3558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53741" cy="355866"/>
            </a:xfrm>
            <a:custGeom>
              <a:avLst/>
              <a:gdLst/>
              <a:ahLst/>
              <a:cxnLst/>
              <a:rect l="l" t="t" r="r" b="b"/>
              <a:pathLst>
                <a:path w="2853741" h="355866">
                  <a:moveTo>
                    <a:pt x="0" y="0"/>
                  </a:moveTo>
                  <a:lnTo>
                    <a:pt x="2853741" y="0"/>
                  </a:lnTo>
                  <a:lnTo>
                    <a:pt x="2853741" y="355866"/>
                  </a:lnTo>
                  <a:lnTo>
                    <a:pt x="0" y="355866"/>
                  </a:lnTo>
                  <a:close/>
                </a:path>
              </a:pathLst>
            </a:custGeom>
            <a:gradFill rotWithShape="1">
              <a:gsLst>
                <a:gs pos="0">
                  <a:srgbClr val="5170FF">
                    <a:alpha val="44000"/>
                  </a:srgbClr>
                </a:gs>
                <a:gs pos="100000">
                  <a:srgbClr val="FF66C4">
                    <a:alpha val="4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853741" cy="365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3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240384" y="7706614"/>
            <a:ext cx="12366653" cy="1921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Implicazione di Design</a:t>
            </a:r>
          </a:p>
          <a:p>
            <a:pPr algn="ctr">
              <a:lnSpc>
                <a:spcPts val="3046"/>
              </a:lnSpc>
            </a:pP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metodo DA efficace nel dominio Ego-Exo non può applicare un correttivo globale uniforme. Deve attivamente mitigare la penalizzazione sulle classi resistenti senza degradare le performance naturali sulle azioni a campo ampio.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23736">
            <a:off x="12178935" y="-3165479"/>
            <a:ext cx="7378262" cy="8229600"/>
          </a:xfrm>
          <a:custGeom>
            <a:avLst/>
            <a:gdLst/>
            <a:ahLst/>
            <a:cxnLst/>
            <a:rect l="l" t="t" r="r" b="b"/>
            <a:pathLst>
              <a:path w="7378262" h="8229600">
                <a:moveTo>
                  <a:pt x="0" y="0"/>
                </a:moveTo>
                <a:lnTo>
                  <a:pt x="7378262" y="0"/>
                </a:lnTo>
                <a:lnTo>
                  <a:pt x="73782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46567" y="1066800"/>
            <a:ext cx="1587884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Trade-off: dann vs mmd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3265" y="7718171"/>
            <a:ext cx="14382150" cy="1540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Mentre i risultati aggregati sul target sono equivalenti, i meccanismi divergono nettamente: </a:t>
            </a: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DANN </a:t>
            </a:r>
            <a:r>
              <a:rPr lang="en-US" sz="2769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sacrifica </a:t>
            </a: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l'accuratezza sul sorgente per confondere il discriminatore, mentre </a:t>
            </a: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MMD </a:t>
            </a:r>
            <a:r>
              <a:rPr lang="en-US" sz="2769" i="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regolarizza </a:t>
            </a:r>
            <a:r>
              <a:rPr lang="en-US" sz="27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senza antagonizzare il classificatore, preservando così le performance sul dominio di origine.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47891" y="5554380"/>
            <a:ext cx="208848" cy="309193"/>
            <a:chOff x="0" y="0"/>
            <a:chExt cx="54901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15" cy="812800"/>
            </a:xfrm>
            <a:custGeom>
              <a:avLst/>
              <a:gdLst/>
              <a:ahLst/>
              <a:cxnLst/>
              <a:rect l="l" t="t" r="r" b="b"/>
              <a:pathLst>
                <a:path w="549015" h="812800">
                  <a:moveTo>
                    <a:pt x="274508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45815" y="0"/>
                  </a:lnTo>
                  <a:lnTo>
                    <a:pt x="345815" y="406400"/>
                  </a:lnTo>
                  <a:lnTo>
                    <a:pt x="549015" y="406400"/>
                  </a:lnTo>
                  <a:lnTo>
                    <a:pt x="274508" y="812800"/>
                  </a:lnTo>
                  <a:close/>
                </a:path>
              </a:pathLst>
            </a:custGeom>
            <a:solidFill>
              <a:srgbClr val="7A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3200" y="-9525"/>
              <a:ext cx="142615" cy="720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7"/>
                </a:lnSpc>
              </a:pPr>
              <a:endParaRPr/>
            </a:p>
          </p:txBody>
        </p:sp>
      </p:grp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EBEE2DB-5F3F-E0E3-58ED-6B092AE45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766430"/>
              </p:ext>
            </p:extLst>
          </p:nvPr>
        </p:nvGraphicFramePr>
        <p:xfrm>
          <a:off x="1905000" y="2689451"/>
          <a:ext cx="14220414" cy="3925582"/>
        </p:xfrm>
        <a:graphic>
          <a:graphicData uri="http://schemas.openxmlformats.org/drawingml/2006/table">
            <a:tbl>
              <a:tblPr/>
              <a:tblGrid>
                <a:gridCol w="4740138">
                  <a:extLst>
                    <a:ext uri="{9D8B030D-6E8A-4147-A177-3AD203B41FA5}">
                      <a16:colId xmlns:a16="http://schemas.microsoft.com/office/drawing/2014/main" val="696510012"/>
                    </a:ext>
                  </a:extLst>
                </a:gridCol>
                <a:gridCol w="4740138">
                  <a:extLst>
                    <a:ext uri="{9D8B030D-6E8A-4147-A177-3AD203B41FA5}">
                      <a16:colId xmlns:a16="http://schemas.microsoft.com/office/drawing/2014/main" val="78791707"/>
                    </a:ext>
                  </a:extLst>
                </a:gridCol>
                <a:gridCol w="4740138">
                  <a:extLst>
                    <a:ext uri="{9D8B030D-6E8A-4147-A177-3AD203B41FA5}">
                      <a16:colId xmlns:a16="http://schemas.microsoft.com/office/drawing/2014/main" val="3995437557"/>
                    </a:ext>
                  </a:extLst>
                </a:gridCol>
              </a:tblGrid>
              <a:tr h="123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rgbClr val="FFFFFF"/>
                          </a:solidFill>
                          <a:effectLst/>
                        </a:rPr>
                        <a:t>METODO</a:t>
                      </a:r>
                    </a:p>
                  </a:txBody>
                  <a:tcPr anchor="ctr">
                    <a:lnL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rgbClr val="FFFFFF"/>
                          </a:solidFill>
                          <a:effectLst/>
                        </a:rPr>
                        <a:t>SOURCE TOP-1 (SORGENTE)</a:t>
                      </a:r>
                    </a:p>
                  </a:txBody>
                  <a:tcPr anchor="ctr">
                    <a:lnL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rgbClr val="FFFFFF"/>
                          </a:solidFill>
                          <a:effectLst/>
                        </a:rPr>
                        <a:t>TARGET BALANCED (EGO)</a:t>
                      </a:r>
                    </a:p>
                  </a:txBody>
                  <a:tcPr anchor="ctr">
                    <a:lnL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9479"/>
                  </a:ext>
                </a:extLst>
              </a:tr>
              <a:tr h="895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B1 (SOURCE-ONLY)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33,0%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4,1%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3340" cap="flat" cmpd="sng" algn="ctr">
                      <a:solidFill>
                        <a:srgbClr val="581D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08952"/>
                  </a:ext>
                </a:extLst>
              </a:tr>
              <a:tr h="895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DANN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solidFill>
                            <a:srgbClr val="7A0000"/>
                          </a:solidFill>
                          <a:effectLst/>
                        </a:rPr>
                        <a:t>19,2% 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4,1%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112380"/>
                  </a:ext>
                </a:extLst>
              </a:tr>
              <a:tr h="895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effectLst/>
                        </a:rPr>
                        <a:t>MMD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solidFill>
                            <a:srgbClr val="00BF63"/>
                          </a:solidFill>
                          <a:effectLst/>
                        </a:rPr>
                        <a:t>33,5% =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effectLst/>
                        </a:rPr>
                        <a:t>4,2%</a:t>
                      </a:r>
                    </a:p>
                  </a:txBody>
                  <a:tcPr anchor="ctr">
                    <a:lnL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57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8073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866614">
            <a:off x="11118993" y="1715052"/>
            <a:ext cx="14338015" cy="10351106"/>
          </a:xfrm>
          <a:custGeom>
            <a:avLst/>
            <a:gdLst/>
            <a:ahLst/>
            <a:cxnLst/>
            <a:rect l="l" t="t" r="r" b="b"/>
            <a:pathLst>
              <a:path w="14338015" h="10351106">
                <a:moveTo>
                  <a:pt x="0" y="0"/>
                </a:moveTo>
                <a:lnTo>
                  <a:pt x="14338014" y="0"/>
                </a:lnTo>
                <a:lnTo>
                  <a:pt x="14338014" y="10351106"/>
                </a:lnTo>
                <a:lnTo>
                  <a:pt x="0" y="1035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390431" y="783096"/>
            <a:ext cx="15878847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CONCLUSIONI E LAVORI FUTURI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243933" y="2724262"/>
            <a:ext cx="7115461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Cosa abbiamo fatto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898635" y="5008895"/>
            <a:ext cx="8708568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Cosa abbiamo trovato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655065" y="7314551"/>
            <a:ext cx="4845829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Lavoro futuro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0431" y="3417979"/>
            <a:ext cx="10962193" cy="61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Trasferimento del riconoscimento di azioni terza → prima persona, senza etichette sul target (UDA).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0431" y="4242012"/>
            <a:ext cx="10962193" cy="61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Confronto tra due strade: DANN (avversariale) e MMD (allineamento statistico).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431" y="6237576"/>
            <a:ext cx="10962193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Meccanismo DANN verificato: discriminatore confuso (≈57,8%, loss → ln 2).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431" y="5723269"/>
            <a:ext cx="12839005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Entrambi recuperano ~⅓ del divario verso l'oracolo supervisionato.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0431" y="6742989"/>
            <a:ext cx="10962193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Il divario non è uniforme: dipende dal tipo di azione.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0431" y="8019400"/>
            <a:ext cx="12402537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Backbone temporale (TSM / SlowFast / MViT) per superare il limite delle feature.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0431" y="8524181"/>
            <a:ext cx="10962193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Adattamento sensibile alla classe, non una correzione globale uniforme.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0431" y="9028963"/>
            <a:ext cx="10962193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Sfruttare l'accoppiamento ego/exo nativo di Charades-Ego.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431" y="9543269"/>
            <a:ext cx="10962193" cy="31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035" lvl="1" indent="-242518" algn="l">
              <a:lnSpc>
                <a:spcPts val="2471"/>
              </a:lnSpc>
              <a:spcBef>
                <a:spcPct val="0"/>
              </a:spcBef>
              <a:buFont typeface="Arial"/>
              <a:buChar char="•"/>
            </a:pPr>
            <a:r>
              <a:rPr lang="en-US" sz="22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Tornare al multi-etichetta per recuperare la co-occorrenza delle azioni.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722610" y="7766673"/>
            <a:ext cx="0" cy="1366616"/>
          </a:xfrm>
          <a:prstGeom prst="line">
            <a:avLst/>
          </a:prstGeom>
          <a:ln w="1905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6880417" y="7880544"/>
            <a:ext cx="0" cy="1366616"/>
          </a:xfrm>
          <a:prstGeom prst="line">
            <a:avLst/>
          </a:prstGeom>
          <a:ln w="1905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3251200"/>
            <a:ext cx="12601023" cy="189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Grazie PER L’ATTENZIONE</a:t>
            </a:r>
          </a:p>
        </p:txBody>
      </p:sp>
      <p:sp>
        <p:nvSpPr>
          <p:cNvPr id="5" name="Freeform 5"/>
          <p:cNvSpPr/>
          <p:nvPr/>
        </p:nvSpPr>
        <p:spPr>
          <a:xfrm rot="287923">
            <a:off x="6837383" y="-5693000"/>
            <a:ext cx="17227378" cy="12437036"/>
          </a:xfrm>
          <a:custGeom>
            <a:avLst/>
            <a:gdLst/>
            <a:ahLst/>
            <a:cxnLst/>
            <a:rect l="l" t="t" r="r" b="b"/>
            <a:pathLst>
              <a:path w="17227378" h="12437036">
                <a:moveTo>
                  <a:pt x="0" y="0"/>
                </a:moveTo>
                <a:lnTo>
                  <a:pt x="17227377" y="0"/>
                </a:lnTo>
                <a:lnTo>
                  <a:pt x="17227377" y="12437036"/>
                </a:lnTo>
                <a:lnTo>
                  <a:pt x="0" y="1243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0" y="7785723"/>
            <a:ext cx="7615725" cy="77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MARTINA BRANCAFORTE </a:t>
            </a:r>
          </a:p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matricola 1000015074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8069" y="7785723"/>
            <a:ext cx="7615725" cy="77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MASSIMILIANO CASSIA</a:t>
            </a:r>
          </a:p>
          <a:p>
            <a:pPr algn="ctr">
              <a:lnSpc>
                <a:spcPts val="3046"/>
              </a:lnSpc>
            </a:pPr>
            <a:r>
              <a:rPr lang="en-US" sz="2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matricola 1000016487</a:t>
            </a:r>
          </a:p>
        </p:txBody>
      </p:sp>
      <p:sp>
        <p:nvSpPr>
          <p:cNvPr id="8" name="AutoShape 8"/>
          <p:cNvSpPr/>
          <p:nvPr/>
        </p:nvSpPr>
        <p:spPr>
          <a:xfrm>
            <a:off x="1038225" y="7766673"/>
            <a:ext cx="0" cy="1366616"/>
          </a:xfrm>
          <a:prstGeom prst="line">
            <a:avLst/>
          </a:prstGeom>
          <a:ln w="1905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1512</Words>
  <Application>Microsoft Office PowerPoint</Application>
  <PresentationFormat>Personalizzato</PresentationFormat>
  <Paragraphs>108</Paragraphs>
  <Slides>13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4" baseType="lpstr">
      <vt:lpstr>Arial</vt:lpstr>
      <vt:lpstr>Montserrat Italics</vt:lpstr>
      <vt:lpstr>Aptos</vt:lpstr>
      <vt:lpstr>Montserrat</vt:lpstr>
      <vt:lpstr>Horizon</vt:lpstr>
      <vt:lpstr>Montserrat Bold</vt:lpstr>
      <vt:lpstr>Calibri</vt:lpstr>
      <vt:lpstr>Open Sans</vt:lpstr>
      <vt:lpstr>Open Sans Bold</vt:lpstr>
      <vt:lpstr>Montserrat Semi-Bold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Learning: Advanced Models &amp; Methods (DL26)</dc:title>
  <cp:lastModifiedBy>MASSIMILIANO CASSIA</cp:lastModifiedBy>
  <cp:revision>4</cp:revision>
  <dcterms:created xsi:type="dcterms:W3CDTF">2006-08-16T00:00:00Z</dcterms:created>
  <dcterms:modified xsi:type="dcterms:W3CDTF">2026-06-16T09:46:11Z</dcterms:modified>
  <dc:identifier>DAHK90zhrYg</dc:identifier>
</cp:coreProperties>
</file>